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notesMasterIdLst>
    <p:notesMasterId r:id="rId63"/>
  </p:notesMasterIdLst>
  <p:handoutMasterIdLst>
    <p:handoutMasterId r:id="rId64"/>
  </p:handoutMasterIdLst>
  <p:sldIdLst>
    <p:sldId id="257" r:id="rId5"/>
    <p:sldId id="367" r:id="rId6"/>
    <p:sldId id="399" r:id="rId7"/>
    <p:sldId id="357" r:id="rId8"/>
    <p:sldId id="358" r:id="rId9"/>
    <p:sldId id="370" r:id="rId10"/>
    <p:sldId id="372" r:id="rId11"/>
    <p:sldId id="419" r:id="rId12"/>
    <p:sldId id="435" r:id="rId13"/>
    <p:sldId id="401" r:id="rId14"/>
    <p:sldId id="445" r:id="rId15"/>
    <p:sldId id="402" r:id="rId16"/>
    <p:sldId id="403" r:id="rId17"/>
    <p:sldId id="441" r:id="rId18"/>
    <p:sldId id="404" r:id="rId19"/>
    <p:sldId id="405" r:id="rId20"/>
    <p:sldId id="418" r:id="rId21"/>
    <p:sldId id="411" r:id="rId22"/>
    <p:sldId id="412" r:id="rId23"/>
    <p:sldId id="413" r:id="rId24"/>
    <p:sldId id="414" r:id="rId25"/>
    <p:sldId id="420" r:id="rId26"/>
    <p:sldId id="415" r:id="rId27"/>
    <p:sldId id="416" r:id="rId28"/>
    <p:sldId id="417" r:id="rId29"/>
    <p:sldId id="408" r:id="rId30"/>
    <p:sldId id="409" r:id="rId31"/>
    <p:sldId id="440" r:id="rId32"/>
    <p:sldId id="410" r:id="rId33"/>
    <p:sldId id="421" r:id="rId34"/>
    <p:sldId id="423" r:id="rId35"/>
    <p:sldId id="422" r:id="rId36"/>
    <p:sldId id="443" r:id="rId37"/>
    <p:sldId id="444" r:id="rId38"/>
    <p:sldId id="424" r:id="rId39"/>
    <p:sldId id="439" r:id="rId40"/>
    <p:sldId id="426" r:id="rId41"/>
    <p:sldId id="437" r:id="rId42"/>
    <p:sldId id="436" r:id="rId43"/>
    <p:sldId id="438" r:id="rId44"/>
    <p:sldId id="427" r:id="rId45"/>
    <p:sldId id="428" r:id="rId46"/>
    <p:sldId id="429" r:id="rId47"/>
    <p:sldId id="431" r:id="rId48"/>
    <p:sldId id="432" r:id="rId49"/>
    <p:sldId id="433" r:id="rId50"/>
    <p:sldId id="442" r:id="rId51"/>
    <p:sldId id="425" r:id="rId52"/>
    <p:sldId id="406" r:id="rId53"/>
    <p:sldId id="375" r:id="rId54"/>
    <p:sldId id="407" r:id="rId55"/>
    <p:sldId id="359" r:id="rId56"/>
    <p:sldId id="360" r:id="rId57"/>
    <p:sldId id="446" r:id="rId58"/>
    <p:sldId id="447" r:id="rId59"/>
    <p:sldId id="448" r:id="rId60"/>
    <p:sldId id="434" r:id="rId61"/>
    <p:sldId id="279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chani, Prashant (Cognizant)" initials="BP(" lastIdx="2" clrIdx="0">
    <p:extLst>
      <p:ext uri="{19B8F6BF-5375-455C-9EA6-DF929625EA0E}">
        <p15:presenceInfo xmlns:p15="http://schemas.microsoft.com/office/powerpoint/2012/main" userId="S-1-5-21-1178368992-402679808-390482200-17351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953735"/>
    <a:srgbClr val="BC4744"/>
    <a:srgbClr val="CE7674"/>
    <a:srgbClr val="2D9F01"/>
    <a:srgbClr val="22822B"/>
    <a:srgbClr val="A44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86314" autoAdjust="0"/>
  </p:normalViewPr>
  <p:slideViewPr>
    <p:cSldViewPr>
      <p:cViewPr varScale="1">
        <p:scale>
          <a:sx n="73" d="100"/>
          <a:sy n="73" d="100"/>
        </p:scale>
        <p:origin x="55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56CD7-9CD9-4B22-AF0B-4282C60B68B3}" type="datetimeFigureOut">
              <a:rPr lang="en-US" smtClean="0"/>
              <a:t>4/4/2018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3AFB5-6F1E-431A-B16C-E2770DEFA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306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3A1FB-12CB-49E6-809F-DA2D2089BF59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E77-EC63-4CD7-8F8A-914122582C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0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Place the audio notes for this slide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94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73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Place the audio notes for this slide here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25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56309" y="4689157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Arial Narrow" pitchFamily="34" charset="0"/>
                <a:cs typeface="Arial" panose="020B0604020202020204" pitchFamily="34" charset="0"/>
              </a:rPr>
              <a:t>LEVEL - LEARNER</a:t>
            </a:r>
            <a:endParaRPr lang="en-IN" sz="2400" b="1" dirty="0">
              <a:solidFill>
                <a:schemeClr val="bg1"/>
              </a:solidFill>
              <a:latin typeface="Arial Narrow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13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fontAlgn="base">
              <a:spcAft>
                <a:spcPct val="0"/>
              </a:spcAft>
            </a:pPr>
            <a:r>
              <a:rPr lang="en-US" dirty="0" smtClean="0"/>
              <a:t>Click to edit Master text styles</a:t>
            </a:r>
          </a:p>
          <a:p>
            <a:pPr lvl="1" fontAlgn="base">
              <a:spcAft>
                <a:spcPct val="0"/>
              </a:spcAft>
            </a:pPr>
            <a:r>
              <a:rPr lang="en-US" dirty="0" smtClean="0"/>
              <a:t>Second level</a:t>
            </a:r>
          </a:p>
          <a:p>
            <a:pPr lvl="2" fontAlgn="base">
              <a:spcAft>
                <a:spcPct val="0"/>
              </a:spcAft>
              <a:buFont typeface="Courier New" pitchFamily="49" charset="0"/>
              <a:buChar char="o"/>
            </a:pPr>
            <a:r>
              <a:rPr lang="en-US" dirty="0" smtClean="0"/>
              <a:t>Third level</a:t>
            </a:r>
          </a:p>
          <a:p>
            <a:pPr lvl="3" fontAlgn="base"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 smtClean="0"/>
              <a:t>Fourth level</a:t>
            </a:r>
          </a:p>
          <a:p>
            <a:pPr lvl="4" fontAlgn="base">
              <a:spcAft>
                <a:spcPct val="0"/>
              </a:spcAft>
              <a:buChar char="•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8ADAFF2-BF11-42B3-8CB9-F8B879C82B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1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1355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fontAlgn="base">
              <a:spcAft>
                <a:spcPct val="0"/>
              </a:spcAft>
            </a:pPr>
            <a:r>
              <a:rPr lang="en-US" dirty="0" smtClean="0"/>
              <a:t>Click to edit Master text styles</a:t>
            </a:r>
          </a:p>
          <a:p>
            <a:pPr lvl="1" fontAlgn="base">
              <a:spcAft>
                <a:spcPct val="0"/>
              </a:spcAft>
            </a:pPr>
            <a:r>
              <a:rPr lang="en-US" dirty="0" smtClean="0"/>
              <a:t>Second level</a:t>
            </a:r>
          </a:p>
          <a:p>
            <a:pPr lvl="2" fontAlgn="base">
              <a:spcAft>
                <a:spcPct val="0"/>
              </a:spcAft>
              <a:buFont typeface="Courier New" pitchFamily="49" charset="0"/>
              <a:buChar char="o"/>
            </a:pPr>
            <a:r>
              <a:rPr lang="en-US" dirty="0" smtClean="0"/>
              <a:t>Third level</a:t>
            </a:r>
          </a:p>
          <a:p>
            <a:pPr lvl="3" fontAlgn="base"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 smtClean="0"/>
              <a:t>Fourth level</a:t>
            </a:r>
          </a:p>
          <a:p>
            <a:pPr lvl="4" fontAlgn="base">
              <a:spcAft>
                <a:spcPct val="0"/>
              </a:spcAft>
              <a:buChar char="•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1355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fontAlgn="base">
              <a:spcAft>
                <a:spcPct val="0"/>
              </a:spcAft>
            </a:pPr>
            <a:r>
              <a:rPr lang="en-US" smtClean="0"/>
              <a:t>Click to edit Master text styles</a:t>
            </a:r>
          </a:p>
          <a:p>
            <a:pPr lvl="1" fontAlgn="base">
              <a:spcAft>
                <a:spcPct val="0"/>
              </a:spcAft>
            </a:pPr>
            <a:r>
              <a:rPr lang="en-US" smtClean="0"/>
              <a:t>Second level</a:t>
            </a:r>
          </a:p>
          <a:p>
            <a:pPr lvl="2" fontAlgn="base">
              <a:spcAft>
                <a:spcPct val="0"/>
              </a:spcAft>
              <a:buFont typeface="Courier New" pitchFamily="49" charset="0"/>
              <a:buChar char="o"/>
            </a:pPr>
            <a:r>
              <a:rPr lang="en-US" smtClean="0"/>
              <a:t>Third level</a:t>
            </a:r>
          </a:p>
          <a:p>
            <a:pPr lvl="3" fontAlgn="base">
              <a:spcAft>
                <a:spcPct val="0"/>
              </a:spcAft>
              <a:buFont typeface="Wingdings" pitchFamily="2" charset="2"/>
              <a:buChar char="§"/>
            </a:pPr>
            <a:r>
              <a:rPr lang="en-US" smtClean="0"/>
              <a:t>Fourth level</a:t>
            </a:r>
          </a:p>
          <a:p>
            <a:pPr lvl="4" fontAlgn="base">
              <a:spcAft>
                <a:spcPct val="0"/>
              </a:spcAft>
              <a:buChar char="•"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552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4040188" cy="6397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 b="1" dirty="0" smtClean="0">
                <a:latin typeface="Arial Unicode MS" pitchFamily="34" charset="-128"/>
                <a:cs typeface="Arial Unicode MS" pitchFamily="34" charset="-128"/>
              </a:defRPr>
            </a:lvl1pPr>
          </a:lstStyle>
          <a:p>
            <a:pPr marL="0" lvl="0" indent="0" fontAlgn="base">
              <a:spcAft>
                <a:spcPct val="0"/>
              </a:spcAft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52600"/>
            <a:ext cx="4040188" cy="43735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fontAlgn="base">
              <a:spcAft>
                <a:spcPct val="0"/>
              </a:spcAft>
            </a:pPr>
            <a:r>
              <a:rPr lang="en-US" dirty="0" smtClean="0"/>
              <a:t>Click to edit Master text styles</a:t>
            </a:r>
          </a:p>
          <a:p>
            <a:pPr lvl="1" fontAlgn="base">
              <a:spcAft>
                <a:spcPct val="0"/>
              </a:spcAft>
            </a:pPr>
            <a:r>
              <a:rPr lang="en-US" dirty="0" smtClean="0"/>
              <a:t>Second level</a:t>
            </a:r>
          </a:p>
          <a:p>
            <a:pPr lvl="2" fontAlgn="base">
              <a:spcAft>
                <a:spcPct val="0"/>
              </a:spcAft>
              <a:buFont typeface="Courier New" pitchFamily="49" charset="0"/>
              <a:buChar char="o"/>
            </a:pPr>
            <a:r>
              <a:rPr lang="en-US" dirty="0" smtClean="0"/>
              <a:t>Third level</a:t>
            </a:r>
          </a:p>
          <a:p>
            <a:pPr lvl="3" fontAlgn="base"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 smtClean="0"/>
              <a:t>Fourth level</a:t>
            </a:r>
          </a:p>
          <a:p>
            <a:pPr lvl="4" fontAlgn="base">
              <a:spcAft>
                <a:spcPct val="0"/>
              </a:spcAft>
              <a:buChar char="•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90600"/>
            <a:ext cx="4041775" cy="6397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 b="1" smtClean="0">
                <a:latin typeface="Arial Unicode MS" pitchFamily="34" charset="-128"/>
                <a:cs typeface="Arial Unicode MS" pitchFamily="34" charset="-128"/>
              </a:defRPr>
            </a:lvl1pPr>
          </a:lstStyle>
          <a:p>
            <a:pPr marL="0" lvl="0" indent="0" fontAlgn="base">
              <a:spcAft>
                <a:spcPct val="0"/>
              </a:spcAft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52600"/>
            <a:ext cx="4041775" cy="43735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fontAlgn="base">
              <a:spcAft>
                <a:spcPct val="0"/>
              </a:spcAft>
            </a:pPr>
            <a:r>
              <a:rPr lang="en-US" smtClean="0"/>
              <a:t>Click to edit Master text styles</a:t>
            </a:r>
          </a:p>
          <a:p>
            <a:pPr lvl="1" fontAlgn="base">
              <a:spcAft>
                <a:spcPct val="0"/>
              </a:spcAft>
            </a:pPr>
            <a:r>
              <a:rPr lang="en-US" smtClean="0"/>
              <a:t>Second level</a:t>
            </a:r>
          </a:p>
          <a:p>
            <a:pPr lvl="2" fontAlgn="base">
              <a:spcAft>
                <a:spcPct val="0"/>
              </a:spcAft>
              <a:buFont typeface="Courier New" pitchFamily="49" charset="0"/>
              <a:buChar char="o"/>
            </a:pPr>
            <a:r>
              <a:rPr lang="en-US" smtClean="0"/>
              <a:t>Third level</a:t>
            </a:r>
          </a:p>
          <a:p>
            <a:pPr lvl="3" fontAlgn="base">
              <a:spcAft>
                <a:spcPct val="0"/>
              </a:spcAft>
              <a:buFont typeface="Wingdings" pitchFamily="2" charset="2"/>
              <a:buChar char="§"/>
            </a:pPr>
            <a:r>
              <a:rPr lang="en-US" smtClean="0"/>
              <a:t>Fourth level</a:t>
            </a:r>
          </a:p>
          <a:p>
            <a:pPr lvl="4" fontAlgn="base">
              <a:spcAft>
                <a:spcPct val="0"/>
              </a:spcAft>
              <a:buChar char="•"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69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17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74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781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Slid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" y="6324600"/>
            <a:ext cx="1371600" cy="365125"/>
          </a:xfrm>
        </p:spPr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094" y="6324600"/>
            <a:ext cx="430306" cy="365125"/>
          </a:xfrm>
        </p:spPr>
        <p:txBody>
          <a:bodyPr/>
          <a:lstStyle/>
          <a:p>
            <a:fld id="{D8ADAFF2-BF11-42B3-8CB9-F8B879C82B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urse_Completion_Pag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91766" y="1787526"/>
            <a:ext cx="3671180" cy="1325563"/>
          </a:xfrm>
          <a:prstGeom prst="rect">
            <a:avLst/>
          </a:prstGeom>
        </p:spPr>
        <p:txBody>
          <a:bodyPr/>
          <a:lstStyle>
            <a:lvl1pPr>
              <a:defRPr sz="1426" b="1">
                <a:solidFill>
                  <a:srgbClr val="00728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92" y="1391787"/>
            <a:ext cx="3449411" cy="3974693"/>
          </a:xfrm>
          <a:prstGeom prst="rect">
            <a:avLst/>
          </a:prstGeom>
        </p:spPr>
      </p:pic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7180810" y="6492875"/>
            <a:ext cx="170631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5" b="1" dirty="0" smtClean="0">
                <a:latin typeface="Arial Narrow" pitchFamily="34" charset="0"/>
              </a:rPr>
              <a:t>© Cognizant</a:t>
            </a:r>
            <a:r>
              <a:rPr lang="en-US" sz="855" b="1" baseline="0" dirty="0" smtClean="0">
                <a:latin typeface="Arial Narrow" pitchFamily="34" charset="0"/>
              </a:rPr>
              <a:t> </a:t>
            </a:r>
            <a:r>
              <a:rPr lang="en-US" sz="855" b="1" dirty="0" smtClean="0">
                <a:latin typeface="Arial Narrow" pitchFamily="34" charset="0"/>
              </a:rPr>
              <a:t>2017 | </a:t>
            </a:r>
            <a:endParaRPr lang="en-US" sz="855" dirty="0" smtClean="0">
              <a:latin typeface="Arial Narrow" panose="020B0606020202030204" pitchFamily="34" charset="0"/>
            </a:endParaRPr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8818075" y="6492876"/>
            <a:ext cx="3259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FEBB6C-3D18-43ED-8B15-291584D2D09C}" type="slidenum">
              <a:rPr lang="en-US" sz="855" smtClean="0">
                <a:latin typeface="Arial Narrow" panose="020B0606020202030204" pitchFamily="34" charset="0"/>
              </a:rPr>
              <a:pPr/>
              <a:t>‹#›</a:t>
            </a:fld>
            <a:endParaRPr lang="en-US" sz="855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239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22412"/>
            <a:ext cx="7162800" cy="5109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fontAlgn="base">
              <a:spcAft>
                <a:spcPct val="0"/>
              </a:spcAft>
            </a:pPr>
            <a:r>
              <a:rPr lang="en-US" dirty="0" smtClean="0"/>
              <a:t>Click to edit Master text styles</a:t>
            </a:r>
          </a:p>
          <a:p>
            <a:pPr lvl="1" fontAlgn="base">
              <a:spcAft>
                <a:spcPct val="0"/>
              </a:spcAft>
            </a:pPr>
            <a:r>
              <a:rPr lang="en-US" dirty="0" smtClean="0"/>
              <a:t>Second level</a:t>
            </a:r>
          </a:p>
          <a:p>
            <a:pPr lvl="2" fontAlgn="base">
              <a:spcAft>
                <a:spcPct val="0"/>
              </a:spcAft>
              <a:buFont typeface="Courier New" pitchFamily="49" charset="0"/>
              <a:buChar char="o"/>
            </a:pPr>
            <a:r>
              <a:rPr lang="en-US" dirty="0" smtClean="0"/>
              <a:t>Third level</a:t>
            </a:r>
          </a:p>
          <a:p>
            <a:pPr lvl="3" fontAlgn="base"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 smtClean="0"/>
              <a:t>Fourth level</a:t>
            </a:r>
          </a:p>
          <a:p>
            <a:pPr lvl="4" fontAlgn="base">
              <a:spcAft>
                <a:spcPct val="0"/>
              </a:spcAft>
              <a:buChar char="•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" y="6324600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r>
              <a:rPr lang="en-US" smtClean="0"/>
              <a:t>| © Cognizant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94" y="6324600"/>
            <a:ext cx="4303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 b="1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fld id="{D8ADAFF2-BF11-42B3-8CB9-F8B879C82B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89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9" r:id="rId4"/>
    <p:sldLayoutId id="2147483680" r:id="rId5"/>
    <p:sldLayoutId id="2147483681" r:id="rId6"/>
    <p:sldLayoutId id="2147483684" r:id="rId7"/>
    <p:sldLayoutId id="2147483686" r:id="rId8"/>
    <p:sldLayoutId id="2147483689" r:id="rId9"/>
    <p:sldLayoutId id="2147483693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3200" b="0" kern="1200" dirty="0">
          <a:solidFill>
            <a:schemeClr val="lt1"/>
          </a:solidFill>
          <a:latin typeface="Arial Rounded MT Bold" pitchFamily="34" charset="0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2000" kern="1200" smtClean="0">
          <a:solidFill>
            <a:schemeClr val="tx1"/>
          </a:solidFill>
          <a:latin typeface="Arial" pitchFamily="34" charset="0"/>
          <a:ea typeface="Arial Unicode MS" pitchFamily="34" charset="-128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800" kern="1200" smtClean="0">
          <a:solidFill>
            <a:schemeClr val="tx1"/>
          </a:solidFill>
          <a:latin typeface="Arial" pitchFamily="34" charset="0"/>
          <a:ea typeface="Arial Unicode MS" pitchFamily="34" charset="-128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1600" kern="1200" smtClean="0">
          <a:solidFill>
            <a:schemeClr val="tx1"/>
          </a:solidFill>
          <a:latin typeface="Arial" pitchFamily="34" charset="0"/>
          <a:ea typeface="Arial Unicode MS" pitchFamily="34" charset="-128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smtClean="0">
          <a:solidFill>
            <a:schemeClr val="tx1"/>
          </a:solidFill>
          <a:latin typeface="Arial" pitchFamily="34" charset="0"/>
          <a:ea typeface="Arial Unicode MS" pitchFamily="34" charset="-128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en-US" sz="1200" kern="1200" dirty="0" smtClean="0">
          <a:solidFill>
            <a:schemeClr val="tx1"/>
          </a:solidFill>
          <a:latin typeface="Arial" pitchFamily="34" charset="0"/>
          <a:ea typeface="Arial Unicode MS" pitchFamily="34" charset="-128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5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0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curant.com/collateral/TechnicalDocument/docu57864.pdf" TargetMode="External"/><Relationship Id="rId2" Type="http://schemas.openxmlformats.org/officeDocument/2006/relationships/hyperlink" Target="http://www.howmuchinformation.org/collateral/TechnicalDocument/docu57858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jouvinio.net/wiki/images/4/48/Documentum_Content_Server_53_SP1_api_ref.pdf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366157"/>
            <a:ext cx="39624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38125"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533400"/>
            <a:ext cx="6400800" cy="816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705" dirty="0" smtClean="0">
                <a:solidFill>
                  <a:prstClr val="white"/>
                </a:solidFill>
                <a:latin typeface="Arial Rounded MT Bold" pitchFamily="34" charset="0"/>
              </a:rPr>
              <a:t>DQL &amp; API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43000"/>
            <a:ext cx="1895393" cy="3990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47" y="2209800"/>
            <a:ext cx="7122158" cy="28248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33800" y="2475301"/>
            <a:ext cx="503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Varun Rajendran (360594)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028148" y="3363184"/>
            <a:ext cx="4687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Enterprise Content Management </a:t>
            </a:r>
            <a:r>
              <a:rPr lang="fr-FR" dirty="0" err="1" smtClean="0"/>
              <a:t>Competency</a:t>
            </a:r>
            <a:endParaRPr lang="fr-FR" dirty="0"/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749040" y="4337439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 0.3,  19</a:t>
            </a:r>
            <a:r>
              <a:rPr lang="en-US" baseline="30000" dirty="0" smtClean="0"/>
              <a:t>th</a:t>
            </a:r>
            <a:r>
              <a:rPr lang="en-US" dirty="0" smtClean="0"/>
              <a:t>   March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83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3180806" y="563959"/>
            <a:ext cx="5791200" cy="5760641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DQL</a:t>
            </a:r>
          </a:p>
          <a:p>
            <a:pPr lvl="1"/>
            <a:r>
              <a:rPr lang="en-US" sz="1600" dirty="0" smtClean="0"/>
              <a:t>Introduction </a:t>
            </a:r>
            <a:r>
              <a:rPr lang="en-US" sz="1600" dirty="0"/>
              <a:t>to DQL</a:t>
            </a:r>
          </a:p>
          <a:p>
            <a:pPr lvl="1"/>
            <a:r>
              <a:rPr lang="en-US" sz="1600" dirty="0"/>
              <a:t>Repository Infrastructure</a:t>
            </a:r>
          </a:p>
          <a:p>
            <a:pPr lvl="1"/>
            <a:r>
              <a:rPr lang="en-US" sz="1600" dirty="0"/>
              <a:t>DQL </a:t>
            </a:r>
            <a:r>
              <a:rPr lang="en-US" sz="1600" dirty="0" smtClean="0"/>
              <a:t>Statements</a:t>
            </a:r>
          </a:p>
          <a:p>
            <a:pPr lvl="1"/>
            <a:r>
              <a:rPr lang="en-US" sz="1600" dirty="0"/>
              <a:t>DQL Elements (Building Blocks of DQL</a:t>
            </a:r>
            <a:r>
              <a:rPr lang="en-US" sz="1600" dirty="0" smtClean="0"/>
              <a:t>)</a:t>
            </a:r>
            <a:endParaRPr lang="en-US" sz="1600" dirty="0"/>
          </a:p>
          <a:p>
            <a:pPr lvl="1"/>
            <a:r>
              <a:rPr lang="en-US" sz="1600" dirty="0"/>
              <a:t>WHERE clause in </a:t>
            </a:r>
            <a:r>
              <a:rPr lang="en-US" sz="1600" dirty="0" smtClean="0"/>
              <a:t>DQL</a:t>
            </a:r>
          </a:p>
          <a:p>
            <a:pPr lvl="1"/>
            <a:r>
              <a:rPr lang="en-US" sz="1600" dirty="0" smtClean="0"/>
              <a:t>DQL </a:t>
            </a:r>
            <a:r>
              <a:rPr lang="en-US" sz="1600" dirty="0"/>
              <a:t>related to Registered </a:t>
            </a:r>
            <a:r>
              <a:rPr lang="en-US" sz="1600" dirty="0" smtClean="0"/>
              <a:t>Table</a:t>
            </a:r>
          </a:p>
          <a:p>
            <a:pPr lvl="1"/>
            <a:r>
              <a:rPr lang="en-US" sz="1600" dirty="0" smtClean="0"/>
              <a:t>Hands On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API</a:t>
            </a:r>
          </a:p>
          <a:p>
            <a:pPr lvl="1"/>
            <a:r>
              <a:rPr lang="en-US" sz="1600" dirty="0" smtClean="0"/>
              <a:t>Introduction to API</a:t>
            </a:r>
          </a:p>
          <a:p>
            <a:pPr lvl="1"/>
            <a:r>
              <a:rPr lang="en-US" sz="1600" dirty="0" smtClean="0"/>
              <a:t>API Tester</a:t>
            </a:r>
          </a:p>
          <a:p>
            <a:pPr lvl="1"/>
            <a:r>
              <a:rPr lang="en-US" sz="1600" dirty="0" smtClean="0"/>
              <a:t>API Methods</a:t>
            </a:r>
          </a:p>
          <a:p>
            <a:pPr lvl="1"/>
            <a:r>
              <a:rPr lang="en-US" sz="1600" dirty="0"/>
              <a:t>Hands </a:t>
            </a:r>
            <a:r>
              <a:rPr lang="en-US" sz="1600" dirty="0" smtClean="0"/>
              <a:t>On</a:t>
            </a:r>
          </a:p>
          <a:p>
            <a:pPr marL="457200" lvl="1" indent="0">
              <a:buNone/>
            </a:pPr>
            <a:endParaRPr lang="en-US" sz="1600" dirty="0" smtClean="0"/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Utilities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Tools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References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103094" y="1143000"/>
            <a:ext cx="2895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2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3094" y="2286000"/>
            <a:ext cx="4648200" cy="1540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705" dirty="0" smtClean="0">
                <a:solidFill>
                  <a:prstClr val="white"/>
                </a:solidFill>
                <a:latin typeface="Arial Rounded MT Bold" pitchFamily="34" charset="0"/>
              </a:rPr>
              <a:t>Introduction to DQL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74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white"/>
                </a:solidFill>
              </a:rPr>
              <a:t>Introduction to DQL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267200"/>
          </a:xfrm>
        </p:spPr>
        <p:txBody>
          <a:bodyPr/>
          <a:lstStyle/>
          <a:p>
            <a:r>
              <a:rPr lang="en-US" sz="1800" dirty="0"/>
              <a:t>DQL is the acronym for Document Query Language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The Syntax of DQL is similar to SQL, which is used to query information from Documentum repository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SQL statements only operate on </a:t>
            </a:r>
            <a:r>
              <a:rPr lang="en-US" sz="1800" dirty="0" smtClean="0"/>
              <a:t>tables\rows</a:t>
            </a:r>
          </a:p>
          <a:p>
            <a:endParaRPr lang="en-US" sz="1800" dirty="0"/>
          </a:p>
          <a:p>
            <a:r>
              <a:rPr lang="en-US" sz="1800" dirty="0"/>
              <a:t>Unlike SQL, DQL statements operate on objects and sometimes on </a:t>
            </a:r>
            <a:r>
              <a:rPr lang="en-US" sz="1800" dirty="0" smtClean="0"/>
              <a:t>tables\rows</a:t>
            </a:r>
          </a:p>
          <a:p>
            <a:endParaRPr lang="en-US" sz="1800" dirty="0"/>
          </a:p>
          <a:p>
            <a:r>
              <a:rPr lang="en-US" sz="1800" dirty="0"/>
              <a:t>By using DQL, can access registered tables - tables in the underlying RDBMS that are known to Content Server but that are not part of the repository.</a:t>
            </a:r>
          </a:p>
          <a:p>
            <a:pPr marL="0" indent="0">
              <a:buNone/>
            </a:pPr>
            <a:endParaRPr lang="en-US" dirty="0">
              <a:solidFill>
                <a:srgbClr val="00718F"/>
              </a:solidFill>
              <a:ea typeface="Ebrima" panose="02000000000000000000" pitchFamily="2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3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Repository Infrastructure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220" y="1891665"/>
            <a:ext cx="2971802" cy="38862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Content Server translates DQL to SQL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SQL is passed to the RDBMS which searches underlying type tables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Content Server searches for the objects of the type selected and all of its subtypes and returns the result to the client application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2" y="998220"/>
            <a:ext cx="6019798" cy="23717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1" y="3834765"/>
            <a:ext cx="49530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2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DQL Statements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The basic DQL query statements retrieve information about the objects in a repository and manipulate those objects.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Basic query statements in DQL are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SELECT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UPDATE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INSERT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DELETE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Content Placeholder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852" y="2514600"/>
            <a:ext cx="6413434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4985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DQL Editor in DA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447800"/>
            <a:ext cx="7696200" cy="38100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9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2225"/>
            <a:ext cx="7162800" cy="511175"/>
          </a:xfrm>
        </p:spPr>
        <p:txBody>
          <a:bodyPr/>
          <a:lstStyle/>
          <a:p>
            <a:r>
              <a:rPr lang="en-US" dirty="0" smtClean="0"/>
              <a:t>DQL Editor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49" y="1295400"/>
            <a:ext cx="721505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2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331926" cy="47244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SELECT statement is the primary query </a:t>
            </a:r>
            <a:r>
              <a:rPr lang="en-US" sz="1600" dirty="0" smtClean="0"/>
              <a:t>statement, fetches </a:t>
            </a:r>
            <a:r>
              <a:rPr lang="en-US" sz="1600" dirty="0"/>
              <a:t>the information from the repository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SELECT </a:t>
            </a:r>
            <a:r>
              <a:rPr lang="en-US" sz="1600" dirty="0"/>
              <a:t>statements are not only stand-alone statements but are also used in other DQL statements (As sub-queries</a:t>
            </a:r>
            <a:r>
              <a:rPr lang="en-US" sz="1600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In </a:t>
            </a:r>
            <a:r>
              <a:rPr lang="en-US" sz="1600" dirty="0"/>
              <a:t>SELECT Statement, you specify object properties in the select clause and an object type in the from </a:t>
            </a:r>
            <a:r>
              <a:rPr lang="en-US" sz="1600" dirty="0" smtClean="0"/>
              <a:t>clause.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 smtClean="0"/>
              <a:t>Types </a:t>
            </a:r>
            <a:r>
              <a:rPr lang="en-US" sz="1600" b="1" dirty="0"/>
              <a:t>of DQL SELECT statement </a:t>
            </a:r>
            <a:r>
              <a:rPr lang="en-US" sz="1600" b="1" dirty="0" smtClean="0"/>
              <a:t>:</a:t>
            </a:r>
            <a:endParaRPr lang="en-US" sz="1600" b="1" dirty="0"/>
          </a:p>
          <a:p>
            <a:pPr>
              <a:buFont typeface="+mj-lt"/>
              <a:buAutoNum type="arabicPeriod"/>
            </a:pPr>
            <a:r>
              <a:rPr lang="en-US" sz="1600" dirty="0"/>
              <a:t>Standard Select : It retrieves wide variety of information from the repository</a:t>
            </a:r>
            <a:r>
              <a:rPr lang="en-US" sz="1600" dirty="0" smtClean="0"/>
              <a:t>. 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FTDQL select statement :  FTDQL queries are run entirely against the </a:t>
            </a:r>
            <a:r>
              <a:rPr lang="en-US" sz="1600" dirty="0" smtClean="0"/>
              <a:t>full text </a:t>
            </a:r>
            <a:r>
              <a:rPr lang="en-US" sz="1600" dirty="0"/>
              <a:t>index, which improves performance.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8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 of SELECT Statement </a:t>
            </a:r>
            <a:r>
              <a:rPr lang="en-US" b="1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000" dirty="0"/>
              <a:t>Standard SELECT Statement:</a:t>
            </a:r>
          </a:p>
          <a:p>
            <a:pPr marL="400050" lvl="1" indent="0">
              <a:buNone/>
            </a:pPr>
            <a:endParaRPr lang="en-US" sz="14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400050" lvl="1" indent="0">
              <a:buNone/>
            </a:pP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SELECT 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[FOR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base_permit_level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][ALL|DISTINCT] value [AS name] {,value [AS name]}</a:t>
            </a:r>
          </a:p>
          <a:p>
            <a:pPr marL="400050" lvl="1" indent="0">
              <a:buNone/>
            </a:pP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FROM [PUBLIC]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source_list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 [WITHIN PARTITION (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partition_id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{,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partition_id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})| IN DOCUMENT clause</a:t>
            </a:r>
          </a:p>
          <a:p>
            <a:pPr marL="400050" lvl="1" indent="0">
              <a:buNone/>
            </a:pP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| IN ASSEMBLY clause][SEARCH [FIRST|LAST]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fulltext_search_condition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[IN FTINDEX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index_name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{,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index_name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}]</a:t>
            </a:r>
          </a:p>
          <a:p>
            <a:pPr marL="400050" lvl="1" indent="0">
              <a:buNone/>
            </a:pP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[WHERE qualification][GROUP BY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value_list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][HAVING qualification][UNION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dql_subselect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][ORDER BY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value_list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]</a:t>
            </a:r>
          </a:p>
          <a:p>
            <a:pPr marL="400050" lvl="1" indent="0">
              <a:buNone/>
            </a:pP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[ENABLE (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hint_list</a:t>
            </a: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)]</a:t>
            </a:r>
            <a:endParaRPr lang="en-US" sz="1600" dirty="0" smtClean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FTDQL SELECT Statement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SELECT [FOR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base_permit_level</a:t>
            </a: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] [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ALL|DISTINCT] value [AS name] {,value [AS name]} FROM [PUBLIC]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source_list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 [SEARCH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fulltext_search_condition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 [IN FTINDEX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index_name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{,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index_name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}] [WHERE qualification] [ORDER BY SCORE] [ENABLE (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hint_list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)]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1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| 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5943599" y="990600"/>
            <a:ext cx="2819401" cy="237807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229600" cy="5135563"/>
          </a:xfrm>
        </p:spPr>
        <p:txBody>
          <a:bodyPr/>
          <a:lstStyle/>
          <a:p>
            <a:pPr marL="285750" indent="-285750"/>
            <a:r>
              <a:rPr lang="en-US" sz="1400" b="1" dirty="0"/>
              <a:t>[all | distinct]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all (default) returns all rows, including duplicates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distinct provides unique </a:t>
            </a:r>
            <a:r>
              <a:rPr lang="en-US" sz="1400" dirty="0" smtClean="0"/>
              <a:t>results</a:t>
            </a:r>
          </a:p>
          <a:p>
            <a:pPr marL="457200" lvl="1" indent="0">
              <a:buNone/>
            </a:pPr>
            <a:endParaRPr lang="en-US" sz="1400" b="1" dirty="0"/>
          </a:p>
          <a:p>
            <a:pPr marL="285750" indent="-285750"/>
            <a:r>
              <a:rPr lang="en-US" sz="1400" b="1" dirty="0"/>
              <a:t>Value(s)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b="1" dirty="0"/>
              <a:t>	</a:t>
            </a:r>
            <a:r>
              <a:rPr lang="en-US" sz="1400" dirty="0"/>
              <a:t>usually represents properties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b="1" dirty="0"/>
              <a:t>	</a:t>
            </a:r>
            <a:r>
              <a:rPr lang="en-US" sz="1400" dirty="0"/>
              <a:t>A scalar, aggregate, arithmetic function or keywords</a:t>
            </a:r>
            <a:r>
              <a:rPr lang="en-US" sz="1400" dirty="0" smtClean="0"/>
              <a:t>.</a:t>
            </a:r>
          </a:p>
          <a:p>
            <a:pPr marL="457200" lvl="1" indent="0">
              <a:buNone/>
            </a:pPr>
            <a:endParaRPr lang="en-US" sz="1400" b="1" dirty="0"/>
          </a:p>
          <a:p>
            <a:pPr marL="285750" indent="-285750"/>
            <a:r>
              <a:rPr lang="en-US" sz="1400" b="1" dirty="0" err="1"/>
              <a:t>Source_list</a:t>
            </a:r>
            <a:endParaRPr lang="en-US" sz="14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 It refers to object types or registered tables.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sz="1400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3733800"/>
            <a:ext cx="8839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0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743" y="1447800"/>
            <a:ext cx="8229600" cy="40528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The UPDATE statement changes the RDBMS table that underlies a registered table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The UPDATE...OBJECT[S] statement modifies objects in the repository. Using this statement, you can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Set </a:t>
            </a:r>
            <a:r>
              <a:rPr lang="en-US" dirty="0"/>
              <a:t>values of a single valued property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Insert</a:t>
            </a:r>
            <a:r>
              <a:rPr lang="en-US" dirty="0"/>
              <a:t>/ remove values in a repeating property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Link </a:t>
            </a:r>
            <a:r>
              <a:rPr lang="en-US" dirty="0"/>
              <a:t>/ unlink object to a folder.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Move </a:t>
            </a:r>
            <a:r>
              <a:rPr lang="en-US" dirty="0"/>
              <a:t>an object to a new folder. </a:t>
            </a:r>
          </a:p>
          <a:p>
            <a:pPr marL="400050" lvl="1" indent="0">
              <a:buNone/>
            </a:pPr>
            <a:endParaRPr lang="en-US" b="1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5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b="1" dirty="0"/>
              <a:t>Syntax:</a:t>
            </a:r>
          </a:p>
          <a:p>
            <a:pPr marL="400050" lvl="1" indent="0">
              <a:buNone/>
            </a:pPr>
            <a:r>
              <a:rPr lang="en-US" dirty="0"/>
              <a:t>      </a:t>
            </a:r>
            <a:r>
              <a:rPr lang="en-US" dirty="0">
                <a:latin typeface="Arial Black" panose="020B0A04020102020204" pitchFamily="34" charset="0"/>
              </a:rPr>
              <a:t>	</a:t>
            </a:r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UPDATE </a:t>
            </a:r>
            <a:r>
              <a:rPr lang="en-US" dirty="0" err="1">
                <a:solidFill>
                  <a:schemeClr val="tx2"/>
                </a:solidFill>
                <a:latin typeface="Arial Black" panose="020B0A04020102020204" pitchFamily="34" charset="0"/>
              </a:rPr>
              <a:t>table_name</a:t>
            </a:r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 SET </a:t>
            </a:r>
            <a:r>
              <a:rPr lang="en-US" dirty="0" err="1">
                <a:solidFill>
                  <a:schemeClr val="tx2"/>
                </a:solidFill>
                <a:latin typeface="Arial Black" panose="020B0A04020102020204" pitchFamily="34" charset="0"/>
              </a:rPr>
              <a:t>column_assignments</a:t>
            </a:r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 WHERE qualification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38400"/>
            <a:ext cx="78486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6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566" y="1752600"/>
            <a:ext cx="8229600" cy="2971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The INSERT statement adds a row to the RDBMS table that underlies a registered table.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Syntax: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Arial Black" panose="020B0A04020102020204" pitchFamily="34" charset="0"/>
              </a:rPr>
              <a:t>INSERT INTO </a:t>
            </a:r>
            <a:r>
              <a:rPr lang="en-US" sz="1800" dirty="0" err="1">
                <a:solidFill>
                  <a:schemeClr val="tx2"/>
                </a:solidFill>
                <a:latin typeface="Arial Black" panose="020B0A04020102020204" pitchFamily="34" charset="0"/>
              </a:rPr>
              <a:t>table_name</a:t>
            </a:r>
            <a:r>
              <a:rPr lang="en-US" sz="1800" dirty="0">
                <a:solidFill>
                  <a:schemeClr val="tx2"/>
                </a:solidFill>
                <a:latin typeface="Arial Black" panose="020B0A04020102020204" pitchFamily="34" charset="0"/>
              </a:rPr>
              <a:t> [(</a:t>
            </a:r>
            <a:r>
              <a:rPr lang="en-US" sz="1800" dirty="0" err="1">
                <a:solidFill>
                  <a:schemeClr val="tx2"/>
                </a:solidFill>
                <a:latin typeface="Arial Black" panose="020B0A04020102020204" pitchFamily="34" charset="0"/>
              </a:rPr>
              <a:t>column_name</a:t>
            </a:r>
            <a:r>
              <a:rPr lang="en-US" sz="1800" dirty="0">
                <a:solidFill>
                  <a:schemeClr val="tx2"/>
                </a:solidFill>
                <a:latin typeface="Arial Black" panose="020B0A04020102020204" pitchFamily="34" charset="0"/>
              </a:rPr>
              <a:t> {,</a:t>
            </a:r>
            <a:r>
              <a:rPr lang="en-US" sz="1800" dirty="0" err="1">
                <a:solidFill>
                  <a:schemeClr val="tx2"/>
                </a:solidFill>
                <a:latin typeface="Arial Black" panose="020B0A04020102020204" pitchFamily="34" charset="0"/>
              </a:rPr>
              <a:t>column_name</a:t>
            </a:r>
            <a:r>
              <a:rPr lang="en-US" sz="1800" dirty="0">
                <a:solidFill>
                  <a:schemeClr val="tx2"/>
                </a:solidFill>
                <a:latin typeface="Arial Black" panose="020B0A04020102020204" pitchFamily="34" charset="0"/>
              </a:rPr>
              <a:t>})] VALUES (value {,value}) | </a:t>
            </a:r>
            <a:r>
              <a:rPr lang="en-US" sz="1800" dirty="0" err="1">
                <a:solidFill>
                  <a:schemeClr val="tx2"/>
                </a:solidFill>
                <a:latin typeface="Arial Black" panose="020B0A04020102020204" pitchFamily="34" charset="0"/>
              </a:rPr>
              <a:t>dql_subselect</a:t>
            </a:r>
            <a:endParaRPr lang="en-US" sz="18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5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983" y="1219200"/>
            <a:ext cx="8229600" cy="4572000"/>
          </a:xfrm>
        </p:spPr>
        <p:txBody>
          <a:bodyPr/>
          <a:lstStyle/>
          <a:p>
            <a:r>
              <a:rPr lang="en-US" sz="1600" dirty="0"/>
              <a:t>The DELETE statement destroys rows in the RDBMS table that underlies a registered table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The DELETE...OBJECT[S] statement deletes objects from the repository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Syntax</a:t>
            </a:r>
            <a:r>
              <a:rPr lang="en-US" sz="1600" b="1" dirty="0"/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DELETE FROM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table_name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WHERE qualification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1600" i="1" dirty="0"/>
              <a:t>Delete…Object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DELETE [PUBLIC]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type_name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[(ALL)] [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correlation_variable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] [WITHIN PARTITION (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partition_id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{,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partition_id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}) OBJECT[S] [IN ASSEMBLY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document_id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[VERSION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version_label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] [NODE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component_id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][DESCEND]] [SEARCH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fulltext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search condition] [WHERE qualification]</a:t>
            </a:r>
          </a:p>
          <a:p>
            <a:pPr marL="244453" indent="-244453" algn="just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6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Statement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838201"/>
            <a:ext cx="7715250" cy="3790106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5800" y="4628307"/>
            <a:ext cx="7924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750"/>
              </a:spcAft>
            </a:pPr>
            <a:r>
              <a:rPr lang="en-US" sz="1600" spc="10" dirty="0" smtClean="0">
                <a:solidFill>
                  <a:srgbClr val="333333"/>
                </a:solidFill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14454"/>
            <a:ext cx="7715250" cy="131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7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DQL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 smtClean="0"/>
              <a:t>Below are the building blocks of DQL Statement</a:t>
            </a:r>
          </a:p>
          <a:p>
            <a:pPr lvl="1"/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</a:rPr>
              <a:t>Literals</a:t>
            </a:r>
          </a:p>
          <a:p>
            <a:pPr lvl="1"/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</a:rPr>
              <a:t>Special Keywords</a:t>
            </a:r>
          </a:p>
          <a:p>
            <a:pPr lvl="1"/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</a:rPr>
              <a:t>Functions</a:t>
            </a:r>
          </a:p>
          <a:p>
            <a:pPr lvl="1"/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</a:rPr>
              <a:t>Predicates</a:t>
            </a:r>
          </a:p>
          <a:p>
            <a:pPr lvl="1"/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</a:rPr>
              <a:t>Logical Operators</a:t>
            </a:r>
          </a:p>
          <a:p>
            <a:pPr marL="457200" lvl="1" indent="0">
              <a:buNone/>
            </a:pPr>
            <a:endParaRPr lang="en-US" sz="1400" dirty="0" smtClean="0"/>
          </a:p>
          <a:p>
            <a:pPr marL="457200" lvl="1" indent="0">
              <a:buNone/>
            </a:pPr>
            <a:endParaRPr lang="en-US" sz="1400" dirty="0" smtClean="0"/>
          </a:p>
          <a:p>
            <a:pPr marL="0" indent="0">
              <a:buNone/>
            </a:pPr>
            <a:r>
              <a:rPr lang="en-US" sz="1400" b="1" dirty="0"/>
              <a:t>Literals</a:t>
            </a:r>
          </a:p>
          <a:p>
            <a:pPr marL="400050" lvl="1" indent="0">
              <a:buNone/>
            </a:pPr>
            <a:r>
              <a:rPr lang="en-US" sz="1400" dirty="0" smtClean="0"/>
              <a:t>Literals </a:t>
            </a:r>
            <a:r>
              <a:rPr lang="en-US" sz="1400" dirty="0"/>
              <a:t>are values that are interpreted by the server exactly as they are entered. Content </a:t>
            </a:r>
            <a:r>
              <a:rPr lang="en-US" sz="1400" dirty="0" smtClean="0"/>
              <a:t>Server recognizes </a:t>
            </a:r>
            <a:r>
              <a:rPr lang="en-US" sz="1400" dirty="0"/>
              <a:t>five types of literals</a:t>
            </a:r>
            <a:r>
              <a:rPr lang="en-US" sz="1400" dirty="0" smtClean="0"/>
              <a:t>:</a:t>
            </a:r>
          </a:p>
          <a:p>
            <a:pPr marL="400050" lvl="1" indent="0">
              <a:buNone/>
            </a:pPr>
            <a:endParaRPr lang="en-US" sz="1400" dirty="0" smtClean="0"/>
          </a:p>
          <a:p>
            <a:pPr marL="685800" lvl="1"/>
            <a:r>
              <a:rPr lang="en-US" sz="1400" dirty="0" smtClean="0"/>
              <a:t>Integer Literals : It specifies a whole number between 0 to  2147483647. DQL doesn’t support negative integer value.</a:t>
            </a:r>
          </a:p>
          <a:p>
            <a:pPr marL="400050" lvl="1" indent="0">
              <a:buNone/>
            </a:pPr>
            <a:endParaRPr lang="en-US" sz="1400" dirty="0" smtClean="0"/>
          </a:p>
          <a:p>
            <a:pPr marL="685800" lvl="1"/>
            <a:r>
              <a:rPr lang="en-US" sz="1400" dirty="0" smtClean="0"/>
              <a:t>Floating point Literals : </a:t>
            </a:r>
            <a:r>
              <a:rPr lang="en-US" sz="1400" dirty="0"/>
              <a:t>A floating point literal specifies any number that contains a decimal </a:t>
            </a:r>
            <a:r>
              <a:rPr lang="en-US" sz="1400" dirty="0" smtClean="0"/>
              <a:t>point [Ex : 3.57]</a:t>
            </a:r>
          </a:p>
          <a:p>
            <a:pPr marL="400050" lvl="1" indent="0">
              <a:buNone/>
            </a:pPr>
            <a:endParaRPr lang="en-US" sz="1400" dirty="0" smtClean="0"/>
          </a:p>
          <a:p>
            <a:pPr marL="685800" lvl="1"/>
            <a:r>
              <a:rPr lang="en-US" sz="1400" dirty="0" smtClean="0"/>
              <a:t>Character String Literals : </a:t>
            </a:r>
            <a:r>
              <a:rPr lang="en-US" sz="1400" dirty="0"/>
              <a:t>Character string literals are strings of printable characters and are enclosed in single </a:t>
            </a:r>
            <a:r>
              <a:rPr lang="en-US" sz="1400" dirty="0" smtClean="0"/>
              <a:t>quotes.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914400"/>
            <a:ext cx="8229600" cy="5410200"/>
          </a:xfrm>
        </p:spPr>
        <p:txBody>
          <a:bodyPr/>
          <a:lstStyle/>
          <a:p>
            <a:pPr lvl="1"/>
            <a:r>
              <a:rPr lang="en-US" sz="1400" dirty="0" smtClean="0"/>
              <a:t>ID Literals : </a:t>
            </a:r>
            <a:r>
              <a:rPr lang="en-US" sz="1400" dirty="0"/>
              <a:t>An ID literal specifies an object ID as a 16-character string enclosed in single quotes</a:t>
            </a:r>
            <a:r>
              <a:rPr lang="en-US" sz="1400" dirty="0" smtClean="0"/>
              <a:t>. ID refers </a:t>
            </a:r>
            <a:r>
              <a:rPr lang="en-US" sz="1400" dirty="0" err="1" smtClean="0"/>
              <a:t>r_object_id</a:t>
            </a:r>
            <a:r>
              <a:rPr lang="en-US" sz="1400" dirty="0" smtClean="0"/>
              <a:t> of an object.</a:t>
            </a:r>
          </a:p>
          <a:p>
            <a:pPr marL="457200" lvl="1" indent="0">
              <a:buNone/>
            </a:pPr>
            <a:endParaRPr lang="en-US" sz="1400" dirty="0" smtClean="0"/>
          </a:p>
          <a:p>
            <a:pPr lvl="1"/>
            <a:r>
              <a:rPr lang="en-US" sz="1400" dirty="0" smtClean="0"/>
              <a:t>Date </a:t>
            </a:r>
            <a:r>
              <a:rPr lang="en-US" sz="1400" dirty="0"/>
              <a:t>literals : A date literal specifies a date using the following syntax: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/>
              <a:t>DATE('</a:t>
            </a:r>
            <a:r>
              <a:rPr lang="en-US" sz="1400" dirty="0" err="1"/>
              <a:t>date_value</a:t>
            </a:r>
            <a:r>
              <a:rPr lang="en-US" sz="1400" dirty="0"/>
              <a:t>[</a:t>
            </a:r>
            <a:r>
              <a:rPr lang="en-US" sz="1400" dirty="0" err="1"/>
              <a:t>utc</a:t>
            </a:r>
            <a:r>
              <a:rPr lang="en-US" sz="1400" dirty="0"/>
              <a:t>]' [,'pattern'])</a:t>
            </a:r>
          </a:p>
          <a:p>
            <a:pPr marL="457200" lvl="1" indent="0">
              <a:buNone/>
            </a:pPr>
            <a:endParaRPr lang="en-US" sz="1400" dirty="0"/>
          </a:p>
          <a:p>
            <a:pPr marL="457200" lvl="1" indent="0">
              <a:buNone/>
            </a:pPr>
            <a:r>
              <a:rPr lang="en-US" sz="1400" dirty="0" err="1"/>
              <a:t>date_value</a:t>
            </a:r>
            <a:r>
              <a:rPr lang="en-US" sz="1400" dirty="0"/>
              <a:t> can be defined using any of the valid character string formats representing a date, or it can be one of the keywords that represent dates</a:t>
            </a:r>
            <a:r>
              <a:rPr lang="en-US" sz="1400" dirty="0" smtClean="0"/>
              <a:t>.</a:t>
            </a:r>
          </a:p>
          <a:p>
            <a:pPr marL="457200" lvl="1" indent="0">
              <a:buNone/>
            </a:pPr>
            <a:endParaRPr lang="en-US" sz="1400" dirty="0"/>
          </a:p>
          <a:p>
            <a:pPr marL="457200" lvl="1" indent="0">
              <a:buNone/>
            </a:pPr>
            <a:r>
              <a:rPr lang="en-US" sz="1400" dirty="0"/>
              <a:t>Valid </a:t>
            </a:r>
            <a:r>
              <a:rPr lang="en-US" sz="1400" dirty="0" smtClean="0"/>
              <a:t>format/dates </a:t>
            </a:r>
            <a:r>
              <a:rPr lang="en-US" sz="1400" dirty="0"/>
              <a:t>range from 01/01/1753 (January 1, 1753) to 12/31/4712 (December 31, 4712</a:t>
            </a:r>
            <a:r>
              <a:rPr lang="en-US" sz="1400" dirty="0" smtClean="0"/>
              <a:t>).</a:t>
            </a:r>
          </a:p>
          <a:p>
            <a:pPr marL="457200" lvl="1" indent="0">
              <a:buNone/>
            </a:pPr>
            <a:endParaRPr lang="en-US" sz="1400" dirty="0" smtClean="0"/>
          </a:p>
          <a:p>
            <a:pPr marL="457200" lvl="1" indent="0">
              <a:buNone/>
            </a:pPr>
            <a:r>
              <a:rPr lang="en-US" sz="1400" b="1" dirty="0"/>
              <a:t>Date literal </a:t>
            </a:r>
            <a:r>
              <a:rPr lang="en-US" sz="1400" b="1" dirty="0" smtClean="0"/>
              <a:t>keywords:</a:t>
            </a:r>
          </a:p>
          <a:p>
            <a:pPr marL="457200" lvl="1" indent="0">
              <a:buNone/>
            </a:pPr>
            <a:r>
              <a:rPr lang="en-US" sz="1400" dirty="0"/>
              <a:t>Four keywords represent </a:t>
            </a:r>
            <a:r>
              <a:rPr lang="en-US" sz="1400" dirty="0" smtClean="0"/>
              <a:t>dates: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953735"/>
                </a:solidFill>
              </a:rPr>
              <a:t>	TODAY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953735"/>
                </a:solidFill>
              </a:rPr>
              <a:t>	</a:t>
            </a:r>
            <a:r>
              <a:rPr lang="en-US" sz="1400" dirty="0" smtClean="0">
                <a:solidFill>
                  <a:srgbClr val="953735"/>
                </a:solidFill>
              </a:rPr>
              <a:t>NOW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953735"/>
                </a:solidFill>
              </a:rPr>
              <a:t>	</a:t>
            </a:r>
            <a:r>
              <a:rPr lang="en-US" sz="1400" dirty="0" smtClean="0">
                <a:solidFill>
                  <a:srgbClr val="953735"/>
                </a:solidFill>
              </a:rPr>
              <a:t>YESTERDAY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953735"/>
                </a:solidFill>
              </a:rPr>
              <a:t>	</a:t>
            </a:r>
            <a:r>
              <a:rPr lang="en-US" sz="1400" dirty="0" smtClean="0">
                <a:solidFill>
                  <a:srgbClr val="953735"/>
                </a:solidFill>
              </a:rPr>
              <a:t>TOMORROW</a:t>
            </a:r>
            <a:endParaRPr lang="en-US" sz="1400" dirty="0">
              <a:solidFill>
                <a:srgbClr val="9537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35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371600"/>
            <a:ext cx="8229600" cy="41910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Special Keywords</a:t>
            </a:r>
          </a:p>
          <a:p>
            <a:r>
              <a:rPr lang="en-US" sz="1400" dirty="0"/>
              <a:t>DQL includes some special keywords for use in queries. </a:t>
            </a:r>
            <a:endParaRPr lang="en-US" sz="1400" dirty="0" smtClean="0"/>
          </a:p>
          <a:p>
            <a:pPr marL="0" indent="0">
              <a:buNone/>
            </a:pPr>
            <a:endParaRPr lang="en-US" sz="1400" dirty="0" smtClean="0"/>
          </a:p>
          <a:p>
            <a:r>
              <a:rPr lang="en-US" sz="1400" dirty="0" smtClean="0"/>
              <a:t>These </a:t>
            </a:r>
            <a:r>
              <a:rPr lang="en-US" sz="1400" dirty="0"/>
              <a:t>keywords have special meanings </a:t>
            </a:r>
            <a:r>
              <a:rPr lang="en-US" sz="1400" dirty="0" smtClean="0"/>
              <a:t>for Content </a:t>
            </a:r>
            <a:r>
              <a:rPr lang="en-US" sz="1400" dirty="0"/>
              <a:t>Server when used in a DQL query</a:t>
            </a:r>
            <a:r>
              <a:rPr lang="en-US" sz="1400" dirty="0" smtClean="0"/>
              <a:t>.	</a:t>
            </a:r>
            <a:r>
              <a:rPr lang="en-US" sz="1400" dirty="0"/>
              <a:t>The keywords are</a:t>
            </a:r>
            <a:r>
              <a:rPr lang="en-US" sz="1400" dirty="0" smtClean="0"/>
              <a:t>:</a:t>
            </a:r>
          </a:p>
          <a:p>
            <a:pPr marL="0" indent="0">
              <a:buNone/>
            </a:pPr>
            <a:endParaRPr lang="en-US" sz="1400" dirty="0" smtClean="0"/>
          </a:p>
          <a:p>
            <a:pPr lvl="1"/>
            <a:r>
              <a:rPr lang="en-US" sz="1400" dirty="0" smtClean="0"/>
              <a:t>USER : It refers current logged in user</a:t>
            </a:r>
          </a:p>
          <a:p>
            <a:pPr marL="800100" lvl="2" indent="0">
              <a:buNone/>
            </a:pP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SELECT </a:t>
            </a:r>
            <a:r>
              <a:rPr lang="en-US" sz="14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process_id</a:t>
            </a: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, </a:t>
            </a:r>
            <a:r>
              <a:rPr lang="en-US" sz="14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object_name</a:t>
            </a: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FROM </a:t>
            </a:r>
            <a:r>
              <a:rPr lang="en-US" sz="1400" dirty="0" err="1">
                <a:solidFill>
                  <a:schemeClr val="tx2"/>
                </a:solidFill>
                <a:latin typeface="Arial Black" panose="020B0A04020102020204" pitchFamily="34" charset="0"/>
              </a:rPr>
              <a:t>dm_workflow</a:t>
            </a:r>
            <a:endParaRPr lang="en-US" sz="14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800100" lvl="2" indent="0">
              <a:buNone/>
            </a:pP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WHERE </a:t>
            </a:r>
            <a:r>
              <a:rPr lang="en-US" sz="14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supervisor_name</a:t>
            </a: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=USER</a:t>
            </a:r>
            <a:endParaRPr lang="en-US" sz="14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800100" lvl="2" indent="0">
              <a:buNone/>
            </a:pPr>
            <a:endParaRPr lang="en-US" sz="1400" dirty="0" smtClean="0">
              <a:solidFill>
                <a:schemeClr val="tx2"/>
              </a:solidFill>
            </a:endParaRPr>
          </a:p>
          <a:p>
            <a:pPr lvl="1"/>
            <a:r>
              <a:rPr lang="en-US" sz="1400" dirty="0" smtClean="0"/>
              <a:t>TRUE and FALSE : It </a:t>
            </a:r>
            <a:r>
              <a:rPr lang="en-US" sz="1400" dirty="0"/>
              <a:t>represent the Boolean true and false.</a:t>
            </a:r>
            <a:endParaRPr lang="en-US" sz="1400" dirty="0" smtClean="0"/>
          </a:p>
          <a:p>
            <a:pPr marL="800100" lvl="2" indent="0">
              <a:buNone/>
            </a:pPr>
            <a:r>
              <a:rPr lang="en-US" sz="1400" dirty="0">
                <a:latin typeface="Arial Black" panose="020B0A04020102020204" pitchFamily="34" charset="0"/>
              </a:rPr>
              <a:t>	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SELECT * FROM </a:t>
            </a:r>
            <a:r>
              <a:rPr lang="en-US" sz="14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dm_user</a:t>
            </a: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 WHERE </a:t>
            </a:r>
            <a:r>
              <a:rPr lang="en-US" sz="14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r_is_group</a:t>
            </a: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Arial Black" panose="020B0A04020102020204" pitchFamily="34" charset="0"/>
              </a:rPr>
              <a:t>= </a:t>
            </a:r>
            <a:r>
              <a:rPr lang="en-US" sz="14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TRUE</a:t>
            </a:r>
          </a:p>
          <a:p>
            <a:pPr marL="800100" lvl="2" indent="0"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lvl="1"/>
            <a:r>
              <a:rPr lang="en-US" sz="1400" dirty="0" smtClean="0"/>
              <a:t>DM_SESSION_DD_LOCALE : It </a:t>
            </a:r>
            <a:r>
              <a:rPr lang="en-US" sz="1400" dirty="0"/>
              <a:t>represents the data dictionary locale most appropriate </a:t>
            </a:r>
            <a:r>
              <a:rPr lang="en-US" sz="1400" dirty="0" smtClean="0"/>
              <a:t>for the </a:t>
            </a:r>
            <a:r>
              <a:rPr lang="en-US" sz="1400" dirty="0"/>
              <a:t>client’s session locale.</a:t>
            </a:r>
            <a:endParaRPr lang="en-US" sz="1400" dirty="0" smtClean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6481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| 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6497" y="703217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 smtClean="0"/>
              <a:t>Functions</a:t>
            </a:r>
          </a:p>
          <a:p>
            <a:pPr marL="0" indent="0">
              <a:buNone/>
            </a:pPr>
            <a:endParaRPr lang="en-US" sz="1600" b="1" dirty="0" smtClean="0"/>
          </a:p>
          <a:p>
            <a:r>
              <a:rPr lang="en-US" sz="1400" dirty="0" smtClean="0"/>
              <a:t>Scalar Functions - </a:t>
            </a:r>
            <a:r>
              <a:rPr lang="en-US" sz="1400" dirty="0"/>
              <a:t>Scalar functions operate on one value and return one </a:t>
            </a:r>
            <a:r>
              <a:rPr lang="en-US" sz="1400" dirty="0" smtClean="0"/>
              <a:t>value.</a:t>
            </a:r>
          </a:p>
          <a:p>
            <a:pPr marL="0" indent="0">
              <a:buNone/>
            </a:pPr>
            <a:endParaRPr lang="en-US" sz="1400" dirty="0" smtClean="0"/>
          </a:p>
          <a:p>
            <a:pPr lvl="1"/>
            <a:r>
              <a:rPr lang="en-US" sz="1400" dirty="0" smtClean="0"/>
              <a:t>The </a:t>
            </a:r>
            <a:r>
              <a:rPr lang="en-US" sz="1400" dirty="0"/>
              <a:t>scalar functions are</a:t>
            </a:r>
            <a:r>
              <a:rPr lang="en-US" sz="1400" dirty="0" smtClean="0"/>
              <a:t>:</a:t>
            </a:r>
          </a:p>
          <a:p>
            <a:pPr marL="457200" lvl="1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	</a:t>
            </a:r>
            <a:r>
              <a:rPr lang="en-US" sz="1400" dirty="0" smtClean="0">
                <a:solidFill>
                  <a:schemeClr val="accent5"/>
                </a:solidFill>
              </a:rPr>
              <a:t>       • </a:t>
            </a:r>
            <a:r>
              <a:rPr lang="en-US" sz="1400" dirty="0">
                <a:solidFill>
                  <a:schemeClr val="accent5"/>
                </a:solidFill>
              </a:rPr>
              <a:t>ASCII </a:t>
            </a:r>
            <a:r>
              <a:rPr lang="en-US" sz="1400" dirty="0"/>
              <a:t>- The ASCII function takes one argument and returns the </a:t>
            </a:r>
            <a:r>
              <a:rPr lang="en-US" sz="1400" dirty="0" smtClean="0"/>
              <a:t>       		                      ASCII </a:t>
            </a:r>
            <a:r>
              <a:rPr lang="en-US" sz="1400" dirty="0"/>
              <a:t>code value of </a:t>
            </a:r>
            <a:r>
              <a:rPr lang="en-US" sz="1400" dirty="0" smtClean="0"/>
              <a:t> the first </a:t>
            </a:r>
            <a:r>
              <a:rPr lang="en-US" sz="1400" dirty="0"/>
              <a:t>character </a:t>
            </a:r>
            <a:r>
              <a:rPr lang="en-US" sz="1400" dirty="0" smtClean="0"/>
              <a:t>of the </a:t>
            </a:r>
            <a:r>
              <a:rPr lang="en-US" sz="1400" dirty="0"/>
              <a:t>argument</a:t>
            </a:r>
            <a:r>
              <a:rPr lang="en-US" sz="1400" dirty="0" smtClean="0"/>
              <a:t>.</a:t>
            </a:r>
          </a:p>
          <a:p>
            <a:pPr marL="1257300" lvl="3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• BITAND </a:t>
            </a:r>
            <a:endParaRPr lang="en-US" dirty="0">
              <a:solidFill>
                <a:schemeClr val="accent5"/>
              </a:solidFill>
            </a:endParaRPr>
          </a:p>
          <a:p>
            <a:pPr marL="1257300" lvl="3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• BITCLR</a:t>
            </a:r>
          </a:p>
          <a:p>
            <a:pPr marL="1257300" lvl="3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• BITSET</a:t>
            </a:r>
          </a:p>
          <a:p>
            <a:pPr marL="1257300" lvl="3" indent="0">
              <a:buNone/>
            </a:pPr>
            <a:endParaRPr lang="en-US" dirty="0" smtClean="0">
              <a:solidFill>
                <a:schemeClr val="accent5"/>
              </a:solidFill>
            </a:endParaRPr>
          </a:p>
          <a:p>
            <a:pPr marL="1257300" lvl="3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• UPPER </a:t>
            </a:r>
            <a:r>
              <a:rPr lang="en-US" dirty="0" smtClean="0"/>
              <a:t>- </a:t>
            </a:r>
            <a:r>
              <a:rPr lang="en-US" dirty="0"/>
              <a:t>The UPPER function takes one argument and returns the uppercase of </a:t>
            </a:r>
            <a:r>
              <a:rPr lang="en-US" dirty="0" smtClean="0"/>
              <a:t>	       that </a:t>
            </a:r>
            <a:r>
              <a:rPr lang="en-US" dirty="0"/>
              <a:t>value</a:t>
            </a:r>
            <a:r>
              <a:rPr lang="en-US" dirty="0" smtClean="0"/>
              <a:t>.</a:t>
            </a:r>
          </a:p>
          <a:p>
            <a:pPr marL="1257300" lvl="3" indent="0">
              <a:buNone/>
            </a:pPr>
            <a:endParaRPr lang="en-US" dirty="0" smtClean="0"/>
          </a:p>
          <a:p>
            <a:pPr marL="1257300" lvl="3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• LOWER </a:t>
            </a:r>
            <a:r>
              <a:rPr lang="en-US" dirty="0" smtClean="0"/>
              <a:t>-  </a:t>
            </a:r>
            <a:r>
              <a:rPr lang="en-US" dirty="0"/>
              <a:t>The LOWER function takes one argument and returns the lowercase of </a:t>
            </a:r>
            <a:r>
              <a:rPr lang="en-US" dirty="0" smtClean="0"/>
              <a:t>	        that value.</a:t>
            </a:r>
          </a:p>
          <a:p>
            <a:pPr marL="1257300" lvl="3" indent="0">
              <a:buNone/>
            </a:pPr>
            <a:endParaRPr lang="en-US" dirty="0" smtClean="0"/>
          </a:p>
          <a:p>
            <a:pPr marL="1257300" lvl="3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• SUBSTR</a:t>
            </a:r>
            <a:r>
              <a:rPr lang="en-US" dirty="0" smtClean="0"/>
              <a:t> - </a:t>
            </a:r>
            <a:r>
              <a:rPr lang="en-US" dirty="0"/>
              <a:t>The SUBSTR function returns some or all of a particular </a:t>
            </a:r>
            <a:r>
              <a:rPr lang="en-US" dirty="0" smtClean="0"/>
              <a:t>string</a:t>
            </a:r>
          </a:p>
          <a:p>
            <a:pPr marL="1257300" lvl="3" indent="0">
              <a:buNone/>
            </a:pPr>
            <a:endParaRPr lang="en-US" sz="1600" dirty="0" smtClean="0"/>
          </a:p>
          <a:p>
            <a:pPr marL="1257300" lvl="3" indent="0">
              <a:buNone/>
            </a:pPr>
            <a:endParaRPr lang="en-US" sz="1600" dirty="0" smtClean="0"/>
          </a:p>
        </p:txBody>
      </p:sp>
      <p:sp>
        <p:nvSpPr>
          <p:cNvPr id="6" name="Right Brace 5"/>
          <p:cNvSpPr/>
          <p:nvPr/>
        </p:nvSpPr>
        <p:spPr>
          <a:xfrm>
            <a:off x="2504099" y="2796103"/>
            <a:ext cx="315301" cy="709097"/>
          </a:xfrm>
          <a:prstGeom prst="righ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10691" y="2971800"/>
            <a:ext cx="52675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BITAND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BITCLR, and BITSET can appear in the  </a:t>
            </a:r>
            <a:r>
              <a:rPr lang="en-US" sz="14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clause of the DELETE,SELECT, and UPDATE DQL statements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01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4" y="1133474"/>
            <a:ext cx="8964706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6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094" y="990600"/>
            <a:ext cx="8964706" cy="5334000"/>
          </a:xfrm>
        </p:spPr>
        <p:txBody>
          <a:bodyPr/>
          <a:lstStyle/>
          <a:p>
            <a:r>
              <a:rPr lang="en-US" sz="1400" dirty="0"/>
              <a:t>Aggregate Functions </a:t>
            </a:r>
          </a:p>
          <a:p>
            <a:pPr marL="0" indent="0">
              <a:buNone/>
            </a:pPr>
            <a:endParaRPr lang="en-US" sz="1400" dirty="0"/>
          </a:p>
          <a:p>
            <a:pPr marL="1257300" lvl="3" indent="0">
              <a:buNone/>
            </a:pPr>
            <a:r>
              <a:rPr lang="en-US" dirty="0"/>
              <a:t>The five aggregate functions are:</a:t>
            </a:r>
          </a:p>
          <a:p>
            <a:pPr marL="1257300" lvl="3" indent="0">
              <a:buNone/>
            </a:pPr>
            <a:r>
              <a:rPr lang="en-US" dirty="0">
                <a:solidFill>
                  <a:schemeClr val="accent5"/>
                </a:solidFill>
              </a:rPr>
              <a:t>• </a:t>
            </a:r>
            <a:r>
              <a:rPr lang="en-US" dirty="0" smtClean="0">
                <a:solidFill>
                  <a:schemeClr val="accent5"/>
                </a:solidFill>
              </a:rPr>
              <a:t>COUNT </a:t>
            </a:r>
            <a:r>
              <a:rPr lang="en-US" dirty="0" smtClean="0"/>
              <a:t>- </a:t>
            </a:r>
            <a:r>
              <a:rPr lang="en-US" dirty="0"/>
              <a:t>The COUNT function counts values.</a:t>
            </a:r>
          </a:p>
          <a:p>
            <a:pPr marL="1257300" lvl="3" indent="0">
              <a:buNone/>
            </a:pPr>
            <a:r>
              <a:rPr lang="en-US" dirty="0">
                <a:solidFill>
                  <a:schemeClr val="accent5"/>
                </a:solidFill>
              </a:rPr>
              <a:t>• </a:t>
            </a:r>
            <a:r>
              <a:rPr lang="en-US" dirty="0" smtClean="0">
                <a:solidFill>
                  <a:schemeClr val="accent5"/>
                </a:solidFill>
              </a:rPr>
              <a:t>MIN - </a:t>
            </a:r>
            <a:r>
              <a:rPr lang="en-US" dirty="0"/>
              <a:t>The MIN function returns the minimum value in a given set of values.</a:t>
            </a:r>
            <a:endParaRPr lang="en-US" dirty="0">
              <a:solidFill>
                <a:schemeClr val="accent5"/>
              </a:solidFill>
            </a:endParaRPr>
          </a:p>
          <a:p>
            <a:pPr marL="1257300" lvl="3" indent="0">
              <a:buNone/>
            </a:pPr>
            <a:r>
              <a:rPr lang="en-US" dirty="0">
                <a:solidFill>
                  <a:schemeClr val="accent5"/>
                </a:solidFill>
              </a:rPr>
              <a:t>• </a:t>
            </a:r>
            <a:r>
              <a:rPr lang="en-US" dirty="0" smtClean="0">
                <a:solidFill>
                  <a:schemeClr val="accent5"/>
                </a:solidFill>
              </a:rPr>
              <a:t>MAX - </a:t>
            </a:r>
            <a:r>
              <a:rPr lang="en-US" dirty="0"/>
              <a:t>The MAX function returns the maximum value in a given set of values.</a:t>
            </a:r>
            <a:endParaRPr lang="en-US" dirty="0">
              <a:solidFill>
                <a:schemeClr val="accent5"/>
              </a:solidFill>
            </a:endParaRPr>
          </a:p>
          <a:p>
            <a:pPr marL="1257300" lvl="3" indent="0">
              <a:buNone/>
            </a:pPr>
            <a:r>
              <a:rPr lang="en-US" dirty="0">
                <a:solidFill>
                  <a:schemeClr val="accent5"/>
                </a:solidFill>
              </a:rPr>
              <a:t>• </a:t>
            </a:r>
            <a:r>
              <a:rPr lang="en-US" dirty="0" smtClean="0">
                <a:solidFill>
                  <a:schemeClr val="accent5"/>
                </a:solidFill>
              </a:rPr>
              <a:t>AVG - </a:t>
            </a:r>
            <a:r>
              <a:rPr lang="en-US" dirty="0"/>
              <a:t>The AVG function returns an average.</a:t>
            </a:r>
            <a:endParaRPr lang="en-US" dirty="0">
              <a:solidFill>
                <a:schemeClr val="accent5"/>
              </a:solidFill>
            </a:endParaRPr>
          </a:p>
          <a:p>
            <a:pPr marL="1257300" lvl="3" indent="0">
              <a:buNone/>
            </a:pPr>
            <a:r>
              <a:rPr lang="en-US" dirty="0">
                <a:solidFill>
                  <a:schemeClr val="accent5"/>
                </a:solidFill>
              </a:rPr>
              <a:t>• </a:t>
            </a:r>
            <a:r>
              <a:rPr lang="en-US" dirty="0" smtClean="0">
                <a:solidFill>
                  <a:schemeClr val="accent5"/>
                </a:solidFill>
              </a:rPr>
              <a:t>SUM - </a:t>
            </a:r>
            <a:r>
              <a:rPr lang="en-US" dirty="0"/>
              <a:t>The SUM function returns a total</a:t>
            </a:r>
            <a:r>
              <a:rPr lang="en-US" dirty="0" smtClean="0"/>
              <a:t>.</a:t>
            </a:r>
          </a:p>
          <a:p>
            <a:pPr marL="1257300" lvl="3" indent="0">
              <a:buNone/>
            </a:pPr>
            <a:endParaRPr lang="en-US" sz="1600" dirty="0"/>
          </a:p>
          <a:p>
            <a:pPr marL="1257300" lvl="3" indent="0">
              <a:buNone/>
            </a:pPr>
            <a:endParaRPr lang="en-US" sz="1600" dirty="0" smtClean="0"/>
          </a:p>
          <a:p>
            <a:pPr marL="1257300" lvl="3" indent="0">
              <a:buNone/>
            </a:pPr>
            <a:endParaRPr lang="en-US" sz="1600" dirty="0" smtClean="0">
              <a:solidFill>
                <a:schemeClr val="accent5"/>
              </a:solidFill>
            </a:endParaRPr>
          </a:p>
          <a:p>
            <a:endParaRPr lang="en-US" sz="1600" dirty="0" smtClean="0"/>
          </a:p>
          <a:p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0"/>
            <a:ext cx="7564163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5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762000"/>
            <a:ext cx="8747760" cy="5410200"/>
          </a:xfrm>
        </p:spPr>
        <p:txBody>
          <a:bodyPr/>
          <a:lstStyle/>
          <a:p>
            <a:pPr lvl="2"/>
            <a:endParaRPr lang="en-US" sz="1400" dirty="0" smtClean="0">
              <a:solidFill>
                <a:schemeClr val="accent5"/>
              </a:solidFill>
            </a:endParaRPr>
          </a:p>
          <a:p>
            <a:r>
              <a:rPr lang="en-US" sz="1400" dirty="0"/>
              <a:t>Date Functions </a:t>
            </a:r>
          </a:p>
          <a:p>
            <a:pPr marL="0" indent="0">
              <a:buNone/>
            </a:pPr>
            <a:r>
              <a:rPr lang="en-US" sz="1400" dirty="0"/>
              <a:t>               The Six Date Functions are:</a:t>
            </a:r>
          </a:p>
          <a:p>
            <a:pPr lvl="2"/>
            <a:r>
              <a:rPr lang="en-US" sz="1400" dirty="0">
                <a:solidFill>
                  <a:schemeClr val="accent5"/>
                </a:solidFill>
              </a:rPr>
              <a:t>DATEDIFF – </a:t>
            </a:r>
            <a:r>
              <a:rPr lang="en-US" sz="1400" dirty="0"/>
              <a:t>It represents the difference between the two </a:t>
            </a:r>
            <a:r>
              <a:rPr lang="en-US" sz="1400" dirty="0" smtClean="0"/>
              <a:t>dates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>
                <a:solidFill>
                  <a:schemeClr val="accent5"/>
                </a:solidFill>
              </a:rPr>
              <a:t>DATEADD – </a:t>
            </a:r>
            <a:r>
              <a:rPr lang="en-US" sz="1400" dirty="0"/>
              <a:t>It adds a number of years</a:t>
            </a:r>
            <a:r>
              <a:rPr lang="en-US" sz="1400" dirty="0" smtClean="0"/>
              <a:t>, months</a:t>
            </a:r>
            <a:r>
              <a:rPr lang="en-US" sz="1400" dirty="0"/>
              <a:t>, weeks, or days to a date and returns the new </a:t>
            </a:r>
            <a:r>
              <a:rPr lang="en-US" sz="1400" dirty="0" smtClean="0"/>
              <a:t>date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>
                <a:solidFill>
                  <a:schemeClr val="accent5"/>
                </a:solidFill>
              </a:rPr>
              <a:t>DATEFLOOR – </a:t>
            </a:r>
            <a:r>
              <a:rPr lang="en-US" sz="1400" dirty="0"/>
              <a:t>It rounds a given date down to the beginning of the year, month, or day in </a:t>
            </a:r>
            <a:r>
              <a:rPr lang="en-US" sz="1400" dirty="0" smtClean="0"/>
              <a:t>UTC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 smtClean="0">
                <a:solidFill>
                  <a:schemeClr val="accent5"/>
                </a:solidFill>
              </a:rPr>
              <a:t>DATETOSTRING </a:t>
            </a:r>
            <a:r>
              <a:rPr lang="en-US" sz="1400" dirty="0">
                <a:solidFill>
                  <a:schemeClr val="accent5"/>
                </a:solidFill>
              </a:rPr>
              <a:t>– </a:t>
            </a:r>
            <a:r>
              <a:rPr lang="en-US" sz="1400" dirty="0"/>
              <a:t>It</a:t>
            </a:r>
            <a:r>
              <a:rPr lang="en-US" sz="1400" dirty="0">
                <a:solidFill>
                  <a:schemeClr val="accent5"/>
                </a:solidFill>
              </a:rPr>
              <a:t> </a:t>
            </a:r>
            <a:r>
              <a:rPr lang="en-US" sz="1400" dirty="0"/>
              <a:t>returns a date as a character string in UTC in a particular </a:t>
            </a:r>
            <a:r>
              <a:rPr lang="en-US" sz="1400" dirty="0" smtClean="0"/>
              <a:t>format</a:t>
            </a:r>
          </a:p>
          <a:p>
            <a:pPr lvl="2"/>
            <a:endParaRPr lang="en-US" sz="1400" dirty="0">
              <a:solidFill>
                <a:schemeClr val="accent5"/>
              </a:solidFill>
            </a:endParaRPr>
          </a:p>
          <a:p>
            <a:pPr lvl="2"/>
            <a:r>
              <a:rPr lang="en-US" sz="1400" dirty="0" smtClean="0">
                <a:solidFill>
                  <a:schemeClr val="accent5"/>
                </a:solidFill>
              </a:rPr>
              <a:t>DATEFLOOR_LOCAL – </a:t>
            </a:r>
            <a:r>
              <a:rPr lang="en-US" sz="1400" dirty="0" smtClean="0"/>
              <a:t>It</a:t>
            </a:r>
            <a:r>
              <a:rPr lang="en-US" sz="1400" dirty="0" smtClean="0">
                <a:solidFill>
                  <a:schemeClr val="accent5"/>
                </a:solidFill>
              </a:rPr>
              <a:t> </a:t>
            </a:r>
            <a:r>
              <a:rPr lang="en-US" sz="1400" dirty="0" smtClean="0"/>
              <a:t>rounds a date down to the beginning of an indicated granularity (day, month, or year) in the server local time.</a:t>
            </a:r>
          </a:p>
          <a:p>
            <a:pPr marL="914400" lvl="2" indent="0">
              <a:buNone/>
            </a:pPr>
            <a:endParaRPr lang="en-US" sz="1400" dirty="0" smtClean="0">
              <a:solidFill>
                <a:schemeClr val="accent5"/>
              </a:solidFill>
            </a:endParaRPr>
          </a:p>
          <a:p>
            <a:pPr lvl="2"/>
            <a:r>
              <a:rPr lang="en-US" sz="1400" dirty="0" smtClean="0">
                <a:solidFill>
                  <a:schemeClr val="accent5"/>
                </a:solidFill>
              </a:rPr>
              <a:t>DATETOSTRING_LOCAL – </a:t>
            </a:r>
            <a:r>
              <a:rPr lang="en-US" sz="1400" dirty="0" smtClean="0"/>
              <a:t>It</a:t>
            </a:r>
            <a:r>
              <a:rPr lang="en-US" sz="1400" dirty="0" smtClean="0">
                <a:solidFill>
                  <a:schemeClr val="accent5"/>
                </a:solidFill>
              </a:rPr>
              <a:t> </a:t>
            </a:r>
            <a:r>
              <a:rPr lang="en-US" sz="1400" dirty="0" smtClean="0"/>
              <a:t>formats </a:t>
            </a:r>
            <a:r>
              <a:rPr lang="en-US" sz="1400" dirty="0"/>
              <a:t>a date value to a character string in the server </a:t>
            </a:r>
            <a:r>
              <a:rPr lang="en-US" sz="1400" dirty="0" smtClean="0"/>
              <a:t>local time</a:t>
            </a:r>
            <a:r>
              <a:rPr lang="en-US" sz="1400" dirty="0"/>
              <a:t>.</a:t>
            </a:r>
            <a:endParaRPr lang="en-US" sz="14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sz="1400" dirty="0" smtClean="0"/>
          </a:p>
          <a:p>
            <a:r>
              <a:rPr lang="en-US" sz="1400" dirty="0" smtClean="0"/>
              <a:t>ID </a:t>
            </a:r>
            <a:r>
              <a:rPr lang="en-US" sz="1400" dirty="0"/>
              <a:t>Function </a:t>
            </a:r>
          </a:p>
          <a:p>
            <a:pPr lvl="1"/>
            <a:r>
              <a:rPr lang="en-US" sz="1400" dirty="0"/>
              <a:t>The ID function is used to identify a folder or cabinet whose contents you want to search.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5780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93914" y="914400"/>
            <a:ext cx="8534400" cy="4800600"/>
          </a:xfrm>
        </p:spPr>
        <p:txBody>
          <a:bodyPr/>
          <a:lstStyle/>
          <a:p>
            <a:r>
              <a:rPr lang="en-US" sz="1400" b="1" dirty="0"/>
              <a:t>Predicates</a:t>
            </a:r>
          </a:p>
          <a:p>
            <a:pPr lvl="1"/>
            <a:r>
              <a:rPr lang="en-US" sz="1400" dirty="0"/>
              <a:t>Predicates are used in WHERE clauses to restrict the objects returned by a query</a:t>
            </a:r>
            <a:r>
              <a:rPr lang="en-US" sz="1400" dirty="0" smtClean="0"/>
              <a:t>.</a:t>
            </a:r>
          </a:p>
          <a:p>
            <a:pPr marL="457200" lvl="1" indent="0">
              <a:buNone/>
            </a:pPr>
            <a:r>
              <a:rPr lang="en-US" sz="1400" dirty="0" smtClean="0"/>
              <a:t> </a:t>
            </a:r>
          </a:p>
          <a:p>
            <a:pPr lvl="1"/>
            <a:r>
              <a:rPr lang="en-US" sz="1400" dirty="0" smtClean="0"/>
              <a:t>Predicates </a:t>
            </a:r>
            <a:r>
              <a:rPr lang="en-US" sz="1400" dirty="0"/>
              <a:t>are the verbs within the </a:t>
            </a:r>
            <a:r>
              <a:rPr lang="en-US" sz="1400" dirty="0" smtClean="0"/>
              <a:t>expression that </a:t>
            </a:r>
            <a:r>
              <a:rPr lang="en-US" sz="1400" dirty="0"/>
              <a:t>define the criteria</a:t>
            </a:r>
            <a:r>
              <a:rPr lang="en-US" sz="1400" dirty="0" smtClean="0"/>
              <a:t>.</a:t>
            </a:r>
          </a:p>
          <a:p>
            <a:pPr marL="457200" lvl="1" indent="0">
              <a:buNone/>
            </a:pPr>
            <a:endParaRPr lang="en-US" sz="1400" dirty="0"/>
          </a:p>
          <a:p>
            <a:pPr lvl="1"/>
            <a:r>
              <a:rPr lang="en-US" sz="1400" dirty="0"/>
              <a:t>For example, the following statement returns only documents that contain the value </a:t>
            </a:r>
            <a:r>
              <a:rPr lang="en-US" sz="1400" dirty="0" smtClean="0"/>
              <a:t>approved in </a:t>
            </a:r>
            <a:r>
              <a:rPr lang="en-US" sz="1400" dirty="0"/>
              <a:t>their keywords property:</a:t>
            </a:r>
          </a:p>
          <a:p>
            <a:pPr marL="1257300" lvl="3" indent="0">
              <a:buNone/>
            </a:pPr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SELECT </a:t>
            </a:r>
            <a:r>
              <a:rPr lang="en-US" dirty="0" err="1">
                <a:solidFill>
                  <a:schemeClr val="tx2"/>
                </a:solidFill>
                <a:latin typeface="Arial Black" panose="020B0A04020102020204" pitchFamily="34" charset="0"/>
              </a:rPr>
              <a:t>r_object_id</a:t>
            </a:r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Arial Black" panose="020B0A04020102020204" pitchFamily="34" charset="0"/>
              </a:rPr>
              <a:t>object_name,object_owner</a:t>
            </a:r>
            <a:r>
              <a:rPr lang="en-US" dirty="0">
                <a:solidFill>
                  <a:schemeClr val="tx2"/>
                </a:solidFill>
                <a:latin typeface="Arial Black" panose="020B0A04020102020204" pitchFamily="34" charset="0"/>
              </a:rPr>
              <a:t> FROM </a:t>
            </a:r>
            <a:r>
              <a:rPr lang="en-US" dirty="0" err="1">
                <a:solidFill>
                  <a:schemeClr val="tx2"/>
                </a:solidFill>
                <a:latin typeface="Arial Black" panose="020B0A04020102020204" pitchFamily="34" charset="0"/>
              </a:rPr>
              <a:t>dm_document</a:t>
            </a:r>
            <a:endParaRPr lang="en-US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1257300" lvl="3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sz="1400" dirty="0"/>
              <a:t>WHERE ANY "keywords" = </a:t>
            </a:r>
            <a:r>
              <a:rPr lang="en-US" sz="1400" dirty="0" smtClean="0"/>
              <a:t>'approved‘ .In </a:t>
            </a:r>
            <a:r>
              <a:rPr lang="en-US" sz="1400" dirty="0"/>
              <a:t>this example, the equal sign (=) is a predicate</a:t>
            </a:r>
            <a:r>
              <a:rPr lang="en-US" sz="1400" dirty="0" smtClean="0"/>
              <a:t>.</a:t>
            </a:r>
          </a:p>
          <a:p>
            <a:pPr lvl="1"/>
            <a:endParaRPr lang="en-US" sz="1400" b="1" dirty="0" smtClean="0"/>
          </a:p>
          <a:p>
            <a:r>
              <a:rPr lang="en-US" sz="1400" b="1" dirty="0" smtClean="0"/>
              <a:t>Logical </a:t>
            </a:r>
            <a:r>
              <a:rPr lang="en-US" sz="1400" b="1" dirty="0"/>
              <a:t>operators</a:t>
            </a:r>
          </a:p>
          <a:p>
            <a:pPr marL="0" indent="0">
              <a:buNone/>
            </a:pPr>
            <a:r>
              <a:rPr lang="en-US" sz="1400" dirty="0" smtClean="0"/>
              <a:t>	</a:t>
            </a:r>
          </a:p>
          <a:p>
            <a:pPr marL="0" indent="0">
              <a:buNone/>
            </a:pPr>
            <a:r>
              <a:rPr lang="en-US" sz="1400" dirty="0"/>
              <a:t>	</a:t>
            </a:r>
            <a:r>
              <a:rPr lang="en-US" sz="1400" dirty="0" smtClean="0"/>
              <a:t>Logical </a:t>
            </a:r>
            <a:r>
              <a:rPr lang="en-US" sz="1400" dirty="0"/>
              <a:t>operators are used in WHERE clauses. DQL </a:t>
            </a:r>
            <a:r>
              <a:rPr lang="en-US" sz="1400" dirty="0" smtClean="0"/>
              <a:t>recognizes </a:t>
            </a:r>
            <a:r>
              <a:rPr lang="en-US" sz="1400" dirty="0"/>
              <a:t>three logical operators</a:t>
            </a:r>
            <a:r>
              <a:rPr lang="en-US" sz="1400" dirty="0" smtClean="0"/>
              <a:t>:</a:t>
            </a:r>
          </a:p>
          <a:p>
            <a:pPr marL="1714500" lvl="3" indent="-457200">
              <a:buFont typeface="+mj-lt"/>
              <a:buAutoNum type="arabicPeriod"/>
            </a:pPr>
            <a:endParaRPr lang="en-US" dirty="0" smtClean="0">
              <a:solidFill>
                <a:srgbClr val="953735"/>
              </a:solidFill>
            </a:endParaRPr>
          </a:p>
          <a:p>
            <a:pPr marL="1714500" lvl="3" indent="-457200">
              <a:buFont typeface="+mj-lt"/>
              <a:buAutoNum type="arabicPeriod"/>
            </a:pPr>
            <a:r>
              <a:rPr lang="en-US" dirty="0" smtClean="0">
                <a:solidFill>
                  <a:srgbClr val="953735"/>
                </a:solidFill>
              </a:rPr>
              <a:t>AND</a:t>
            </a:r>
          </a:p>
          <a:p>
            <a:pPr marL="1714500" lvl="3" indent="-457200">
              <a:buFont typeface="+mj-lt"/>
              <a:buAutoNum type="arabicPeriod"/>
            </a:pPr>
            <a:r>
              <a:rPr lang="en-US" dirty="0" smtClean="0">
                <a:solidFill>
                  <a:srgbClr val="953735"/>
                </a:solidFill>
              </a:rPr>
              <a:t>OR</a:t>
            </a:r>
          </a:p>
          <a:p>
            <a:pPr marL="1714500" lvl="3" indent="-457200">
              <a:buFont typeface="+mj-lt"/>
              <a:buAutoNum type="arabicPeriod"/>
            </a:pPr>
            <a:r>
              <a:rPr lang="en-US" dirty="0" smtClean="0">
                <a:solidFill>
                  <a:srgbClr val="953735"/>
                </a:solidFill>
              </a:rPr>
              <a:t>NOT</a:t>
            </a:r>
            <a:endParaRPr lang="en-US" dirty="0">
              <a:solidFill>
                <a:srgbClr val="9537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61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Clause in DQL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634" y="1143000"/>
            <a:ext cx="8229600" cy="4648200"/>
          </a:xfrm>
        </p:spPr>
        <p:txBody>
          <a:bodyPr/>
          <a:lstStyle/>
          <a:p>
            <a:r>
              <a:rPr lang="en-US" sz="1400" dirty="0"/>
              <a:t>The WHERE clause restricts the information retrieved by placing a qualification on the query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endParaRPr lang="en-US" sz="1400" dirty="0" smtClean="0"/>
          </a:p>
          <a:p>
            <a:r>
              <a:rPr lang="en-US" sz="1400" dirty="0" smtClean="0"/>
              <a:t>WHERE clause can be used in SELECT,UPDATE and DELETE Statements.</a:t>
            </a:r>
          </a:p>
          <a:p>
            <a:endParaRPr lang="en-US" sz="1400" dirty="0" smtClean="0"/>
          </a:p>
          <a:p>
            <a:r>
              <a:rPr lang="en-US" sz="1400" dirty="0"/>
              <a:t>The </a:t>
            </a:r>
            <a:r>
              <a:rPr lang="en-US" sz="1400" dirty="0" smtClean="0"/>
              <a:t>qualification can </a:t>
            </a:r>
            <a:r>
              <a:rPr lang="en-US" sz="1400" dirty="0"/>
              <a:t>be simple or complex</a:t>
            </a:r>
            <a:r>
              <a:rPr lang="en-US" sz="1400" dirty="0" smtClean="0"/>
              <a:t>. </a:t>
            </a:r>
            <a:r>
              <a:rPr lang="en-US" sz="1400" dirty="0"/>
              <a:t>A qualification can also include a </a:t>
            </a:r>
            <a:r>
              <a:rPr lang="en-US" sz="1400" dirty="0" smtClean="0"/>
              <a:t>subquery.</a:t>
            </a:r>
          </a:p>
          <a:p>
            <a:endParaRPr lang="en-US" sz="1400" dirty="0" smtClean="0"/>
          </a:p>
          <a:p>
            <a:r>
              <a:rPr lang="en-US" sz="1400" dirty="0" smtClean="0"/>
              <a:t>It filters the results, which meets the criteria specified in qualification.</a:t>
            </a:r>
          </a:p>
          <a:p>
            <a:endParaRPr lang="en-US" sz="1400" dirty="0" smtClean="0"/>
          </a:p>
          <a:p>
            <a:r>
              <a:rPr lang="en-US" sz="1400" dirty="0" smtClean="0"/>
              <a:t>Multiple expressions can be joined together using logical operators.</a:t>
            </a:r>
          </a:p>
          <a:p>
            <a:endParaRPr lang="en-US" sz="1400" dirty="0" smtClean="0"/>
          </a:p>
          <a:p>
            <a:r>
              <a:rPr lang="en-US" sz="1400" dirty="0" smtClean="0"/>
              <a:t>In WHERE clause valid predicates (BETWEEN,</a:t>
            </a:r>
            <a:r>
              <a:rPr lang="en-US" sz="1400" dirty="0"/>
              <a:t> NOT </a:t>
            </a:r>
            <a:r>
              <a:rPr lang="en-US" sz="1400" dirty="0" smtClean="0"/>
              <a:t>LIKE,</a:t>
            </a:r>
            <a:r>
              <a:rPr lang="en-US" sz="1400" dirty="0"/>
              <a:t> NOT </a:t>
            </a:r>
            <a:r>
              <a:rPr lang="en-US" sz="1400" dirty="0" smtClean="0"/>
              <a:t>NULL ..,) </a:t>
            </a:r>
            <a:r>
              <a:rPr lang="en-US" sz="1400" dirty="0"/>
              <a:t> Logical Operators (OR, AND, NOT) , literals,</a:t>
            </a:r>
          </a:p>
          <a:p>
            <a:pPr marL="400050" lvl="1" indent="0">
              <a:buNone/>
            </a:pPr>
            <a:r>
              <a:rPr lang="en-US" sz="1400" dirty="0"/>
              <a:t>property names, scalar and date functions, special keywords,</a:t>
            </a:r>
          </a:p>
          <a:p>
            <a:pPr marL="400050" lvl="1" indent="0">
              <a:buNone/>
            </a:pPr>
            <a:r>
              <a:rPr lang="en-US" sz="1400" dirty="0"/>
              <a:t>and arithmetic expressions can be </a:t>
            </a:r>
            <a:r>
              <a:rPr lang="en-US" sz="1400" dirty="0" smtClean="0"/>
              <a:t>used.</a:t>
            </a:r>
          </a:p>
          <a:p>
            <a:pPr marL="400050" lvl="1" indent="0">
              <a:buNone/>
            </a:pPr>
            <a:endParaRPr lang="en-US" sz="1400" dirty="0" smtClean="0"/>
          </a:p>
          <a:p>
            <a:r>
              <a:rPr lang="en-US" sz="1400" dirty="0" smtClean="0"/>
              <a:t>The </a:t>
            </a:r>
            <a:r>
              <a:rPr lang="en-US" sz="1400" dirty="0"/>
              <a:t>syntax of the WHERE clause is:</a:t>
            </a:r>
          </a:p>
          <a:p>
            <a:pPr marL="0" indent="0">
              <a:buNone/>
            </a:pPr>
            <a:r>
              <a:rPr lang="en-US" sz="1400" dirty="0" smtClean="0"/>
              <a:t>      </a:t>
            </a:r>
            <a:r>
              <a:rPr lang="en-US" sz="1400" b="1" dirty="0" smtClean="0">
                <a:solidFill>
                  <a:schemeClr val="tx2"/>
                </a:solidFill>
              </a:rPr>
              <a:t>WHERE </a:t>
            </a:r>
            <a:r>
              <a:rPr lang="en-US" sz="1400" b="1" i="1" dirty="0">
                <a:solidFill>
                  <a:schemeClr val="tx2"/>
                </a:solidFill>
              </a:rPr>
              <a:t>qualification</a:t>
            </a:r>
            <a:endParaRPr lang="en-US" sz="1400" b="1" dirty="0" smtClean="0">
              <a:solidFill>
                <a:schemeClr val="tx2"/>
              </a:solidFill>
            </a:endParaRPr>
          </a:p>
          <a:p>
            <a:pPr lvl="1" indent="-34290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400050" lvl="1" indent="0">
              <a:buNone/>
            </a:pPr>
            <a:endParaRPr lang="en-US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1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Clause samples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26869" y="1524000"/>
            <a:ext cx="8305800" cy="3657600"/>
          </a:xfrm>
        </p:spPr>
        <p:txBody>
          <a:bodyPr/>
          <a:lstStyle/>
          <a:p>
            <a:r>
              <a:rPr lang="en-US" sz="1600" dirty="0"/>
              <a:t>The following example returns the user names of all users that belong to a specified group</a:t>
            </a:r>
            <a:r>
              <a:rPr lang="en-US" sz="1600" dirty="0" smtClean="0"/>
              <a:t>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      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SELECT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user_name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FROM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dm_user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WHERE </a:t>
            </a:r>
            <a:r>
              <a:rPr lang="en-US" sz="16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user_group_name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=‘</a:t>
            </a:r>
            <a:r>
              <a:rPr lang="en-US" sz="16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engr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’</a:t>
            </a: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 smtClean="0"/>
              <a:t>The </a:t>
            </a:r>
            <a:r>
              <a:rPr lang="en-US" sz="1600" dirty="0"/>
              <a:t>next example retrieves all the types that do not have </a:t>
            </a:r>
            <a:r>
              <a:rPr lang="en-US" sz="1600" dirty="0" err="1"/>
              <a:t>SysObject</a:t>
            </a:r>
            <a:r>
              <a:rPr lang="en-US" sz="1600" dirty="0"/>
              <a:t> as their direct </a:t>
            </a:r>
            <a:r>
              <a:rPr lang="en-US" sz="1600" dirty="0" err="1"/>
              <a:t>supertype</a:t>
            </a:r>
            <a:r>
              <a:rPr lang="en-US" sz="1600" dirty="0"/>
              <a:t> </a:t>
            </a:r>
            <a:r>
              <a:rPr lang="en-US" sz="1600" dirty="0" smtClean="0"/>
              <a:t>and have </a:t>
            </a:r>
            <a:r>
              <a:rPr lang="en-US" sz="1600" dirty="0"/>
              <a:t>more than 15 properties</a:t>
            </a:r>
            <a:r>
              <a:rPr lang="en-US" sz="1600" dirty="0" smtClean="0"/>
              <a:t>:</a:t>
            </a:r>
          </a:p>
          <a:p>
            <a:pPr marL="0" indent="0">
              <a:buNone/>
            </a:pPr>
            <a:endParaRPr lang="en-US" sz="1600" dirty="0"/>
          </a:p>
          <a:p>
            <a:pPr marL="0" lvl="1" indent="0">
              <a:buNone/>
            </a:pPr>
            <a:r>
              <a:rPr lang="en-US" sz="1600" dirty="0" smtClean="0"/>
              <a:t>	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SELECT name FROM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dm_type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WHERE </a:t>
            </a:r>
            <a:r>
              <a:rPr lang="en-US" sz="16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super_name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!= ‘</a:t>
            </a:r>
            <a:r>
              <a:rPr lang="en-US" sz="16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dm_sysobject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’ 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AND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attr_count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&gt; 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15</a:t>
            </a:r>
            <a:endParaRPr lang="en-US" sz="1600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915400" cy="5135563"/>
          </a:xfrm>
        </p:spPr>
        <p:txBody>
          <a:bodyPr/>
          <a:lstStyle/>
          <a:p>
            <a:r>
              <a:rPr lang="en-US" sz="1600" dirty="0"/>
              <a:t>The following example returns the types that were last </a:t>
            </a:r>
            <a:r>
              <a:rPr lang="en-US" sz="1600" dirty="0" smtClean="0"/>
              <a:t>created </a:t>
            </a:r>
            <a:r>
              <a:rPr lang="en-US" sz="1600" dirty="0"/>
              <a:t>in dates greater than or equal to the date specified</a:t>
            </a:r>
            <a:r>
              <a:rPr lang="en-US" sz="1600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47" y="2057400"/>
            <a:ext cx="8382000" cy="321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5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WHERE Clause for repeating properties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To search a repeating property for a specific value, </a:t>
            </a:r>
            <a:r>
              <a:rPr lang="en-US" sz="1600" dirty="0" smtClean="0"/>
              <a:t>use </a:t>
            </a:r>
            <a:r>
              <a:rPr lang="en-US" sz="1600" dirty="0"/>
              <a:t>the ANY predicate in the WHERE </a:t>
            </a:r>
            <a:r>
              <a:rPr lang="en-US" sz="1600" dirty="0" smtClean="0"/>
              <a:t>clause qualification. </a:t>
            </a:r>
          </a:p>
          <a:p>
            <a:endParaRPr lang="en-US" sz="1600" dirty="0"/>
          </a:p>
          <a:p>
            <a:r>
              <a:rPr lang="en-US" sz="1600" dirty="0" smtClean="0"/>
              <a:t>The </a:t>
            </a:r>
            <a:r>
              <a:rPr lang="en-US" sz="1600" dirty="0"/>
              <a:t>following example searches the authors property to return any document that has </a:t>
            </a:r>
            <a:r>
              <a:rPr lang="en-US" sz="1600" dirty="0" err="1" smtClean="0"/>
              <a:t>xcp_admin</a:t>
            </a:r>
            <a:r>
              <a:rPr lang="en-US" sz="1600" dirty="0" smtClean="0"/>
              <a:t> </a:t>
            </a:r>
            <a:r>
              <a:rPr lang="en-US" sz="1600" dirty="0"/>
              <a:t>as one </a:t>
            </a:r>
            <a:r>
              <a:rPr lang="en-US" sz="1600" dirty="0" smtClean="0"/>
              <a:t>of its authors:</a:t>
            </a:r>
          </a:p>
          <a:p>
            <a:pPr marL="400050" lvl="1" indent="0">
              <a:buNone/>
            </a:pPr>
            <a:r>
              <a:rPr lang="en-US" sz="1600" dirty="0" smtClean="0"/>
              <a:t>	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SELECT </a:t>
            </a:r>
            <a:r>
              <a:rPr lang="en-US" sz="16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object_name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 FROM </a:t>
            </a:r>
            <a:r>
              <a:rPr lang="en-US" sz="16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dm_document</a:t>
            </a:r>
            <a:endParaRPr lang="en-US" sz="1600" dirty="0" smtClean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400050" lvl="1" indent="0">
              <a:buNone/>
            </a:pP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	WHERE ANY authors = ‘</a:t>
            </a:r>
            <a:r>
              <a:rPr lang="en-US" sz="16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xcp_admin</a:t>
            </a:r>
            <a:r>
              <a:rPr lang="en-US" sz="1600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’</a:t>
            </a:r>
          </a:p>
          <a:p>
            <a:pPr marL="400050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400050" lvl="1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69" y="3124200"/>
            <a:ext cx="8229600" cy="310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8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DQL related to Registered </a:t>
            </a:r>
            <a:r>
              <a:rPr lang="en-US" dirty="0" smtClean="0"/>
              <a:t>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247" y="872104"/>
            <a:ext cx="8229600" cy="5135563"/>
          </a:xfrm>
        </p:spPr>
        <p:txBody>
          <a:bodyPr/>
          <a:lstStyle/>
          <a:p>
            <a:r>
              <a:rPr lang="en-US" sz="1400" dirty="0"/>
              <a:t>Register statement registers an RDBMS table so the content server can access it</a:t>
            </a:r>
            <a:r>
              <a:rPr lang="en-US" sz="1400" dirty="0" smtClean="0"/>
              <a:t>.</a:t>
            </a:r>
          </a:p>
          <a:p>
            <a:endParaRPr lang="en-US" sz="1400" dirty="0" smtClean="0"/>
          </a:p>
          <a:p>
            <a:r>
              <a:rPr lang="en-US" sz="1400" dirty="0"/>
              <a:t>Allows access to data in an existing RDBMS table that may </a:t>
            </a:r>
            <a:r>
              <a:rPr lang="en-US" sz="1400" dirty="0" smtClean="0"/>
              <a:t>be: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/>
              <a:t>Created to support additional application data</a:t>
            </a: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Part </a:t>
            </a:r>
            <a:r>
              <a:rPr lang="en-US" sz="1400" dirty="0"/>
              <a:t>of another </a:t>
            </a:r>
            <a:r>
              <a:rPr lang="en-US" sz="1400" dirty="0" smtClean="0"/>
              <a:t>application.</a:t>
            </a:r>
            <a:endParaRPr lang="en-US" sz="1400" dirty="0"/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sz="1400" dirty="0"/>
              <a:t>Owned by different </a:t>
            </a:r>
            <a:r>
              <a:rPr lang="en-US" sz="1400" dirty="0" smtClean="0"/>
              <a:t>owner.</a:t>
            </a:r>
            <a:endParaRPr lang="en-US" sz="1400" dirty="0"/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sz="1400" dirty="0"/>
              <a:t>Does not verify that the table or its columns exist</a:t>
            </a:r>
            <a:r>
              <a:rPr lang="en-US" sz="1400" dirty="0" smtClean="0"/>
              <a:t>.</a:t>
            </a:r>
          </a:p>
          <a:p>
            <a:pPr marL="857250" lvl="2" indent="0">
              <a:buNone/>
            </a:pPr>
            <a:endParaRPr lang="en-US" sz="1400" dirty="0" smtClean="0"/>
          </a:p>
          <a:p>
            <a:r>
              <a:rPr lang="en-US" sz="1400" dirty="0"/>
              <a:t>All columns in a table need not be </a:t>
            </a:r>
            <a:r>
              <a:rPr lang="en-US" sz="1400" dirty="0" smtClean="0"/>
              <a:t>registered.</a:t>
            </a:r>
          </a:p>
          <a:p>
            <a:endParaRPr lang="en-US" sz="1400" dirty="0"/>
          </a:p>
          <a:p>
            <a:r>
              <a:rPr lang="en-US" sz="1400" dirty="0"/>
              <a:t>Creates a </a:t>
            </a:r>
            <a:r>
              <a:rPr lang="en-US" sz="1400" dirty="0" err="1"/>
              <a:t>dm_registered</a:t>
            </a:r>
            <a:r>
              <a:rPr lang="en-US" sz="1400" dirty="0"/>
              <a:t> object in the system cabinet which provides a description of the table and user access to </a:t>
            </a:r>
            <a:r>
              <a:rPr lang="en-US" sz="1400" dirty="0" smtClean="0"/>
              <a:t>it.</a:t>
            </a:r>
          </a:p>
          <a:p>
            <a:endParaRPr lang="en-US" sz="1400" dirty="0"/>
          </a:p>
          <a:p>
            <a:r>
              <a:rPr lang="en-US" sz="1400" dirty="0" smtClean="0"/>
              <a:t>Below Query registers </a:t>
            </a:r>
            <a:r>
              <a:rPr lang="en-US" sz="1400" dirty="0"/>
              <a:t>a table from the underlying RDBMS with the repository</a:t>
            </a:r>
            <a:r>
              <a:rPr lang="en-US" sz="1400" dirty="0" smtClean="0"/>
              <a:t>.</a:t>
            </a:r>
          </a:p>
          <a:p>
            <a:endParaRPr lang="en-US" sz="1400" dirty="0" smtClean="0"/>
          </a:p>
          <a:p>
            <a:r>
              <a:rPr lang="en-US" sz="1400" dirty="0" smtClean="0"/>
              <a:t>Syntax</a:t>
            </a:r>
            <a:endParaRPr lang="en-US" sz="1400" dirty="0"/>
          </a:p>
          <a:p>
            <a:pPr marL="400050" lvl="1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REGISTER TABLE [</a:t>
            </a:r>
            <a:r>
              <a:rPr lang="en-US" sz="1400" dirty="0" err="1">
                <a:solidFill>
                  <a:schemeClr val="tx2"/>
                </a:solidFill>
              </a:rPr>
              <a:t>owner_name</a:t>
            </a:r>
            <a:r>
              <a:rPr lang="en-US" sz="1400" dirty="0">
                <a:solidFill>
                  <a:schemeClr val="tx2"/>
                </a:solidFill>
              </a:rPr>
              <a:t>.]</a:t>
            </a:r>
            <a:r>
              <a:rPr lang="en-US" sz="1400" dirty="0" err="1">
                <a:solidFill>
                  <a:schemeClr val="tx2"/>
                </a:solidFill>
              </a:rPr>
              <a:t>table_name</a:t>
            </a:r>
            <a:r>
              <a:rPr lang="en-US" sz="1400" dirty="0">
                <a:solidFill>
                  <a:schemeClr val="tx2"/>
                </a:solidFill>
              </a:rPr>
              <a:t> (</a:t>
            </a:r>
            <a:r>
              <a:rPr lang="en-US" sz="1400" dirty="0" err="1">
                <a:solidFill>
                  <a:schemeClr val="tx2"/>
                </a:solidFill>
              </a:rPr>
              <a:t>column_def</a:t>
            </a:r>
            <a:r>
              <a:rPr lang="en-US" sz="1400" dirty="0">
                <a:solidFill>
                  <a:schemeClr val="tx2"/>
                </a:solidFill>
              </a:rPr>
              <a:t> {,</a:t>
            </a:r>
            <a:r>
              <a:rPr lang="en-US" sz="1400" dirty="0" err="1">
                <a:solidFill>
                  <a:schemeClr val="tx2"/>
                </a:solidFill>
              </a:rPr>
              <a:t>column_def</a:t>
            </a:r>
            <a:r>
              <a:rPr lang="en-US" sz="1400" dirty="0">
                <a:solidFill>
                  <a:schemeClr val="tx2"/>
                </a:solidFill>
              </a:rPr>
              <a:t>}) [[WITH] KEY (</a:t>
            </a:r>
            <a:r>
              <a:rPr lang="en-US" sz="1400" dirty="0" err="1">
                <a:solidFill>
                  <a:schemeClr val="tx2"/>
                </a:solidFill>
              </a:rPr>
              <a:t>column_list</a:t>
            </a:r>
            <a:r>
              <a:rPr lang="en-US" sz="1400" dirty="0">
                <a:solidFill>
                  <a:schemeClr val="tx2"/>
                </a:solidFill>
              </a:rPr>
              <a:t>)] [SYNONYM [FOR] '</a:t>
            </a:r>
            <a:r>
              <a:rPr lang="en-US" sz="1400" dirty="0" err="1">
                <a:solidFill>
                  <a:schemeClr val="tx2"/>
                </a:solidFill>
              </a:rPr>
              <a:t>table_identification</a:t>
            </a:r>
            <a:r>
              <a:rPr lang="en-US" sz="1400" dirty="0">
                <a:solidFill>
                  <a:schemeClr val="tx2"/>
                </a:solidFill>
              </a:rPr>
              <a:t>']</a:t>
            </a:r>
          </a:p>
          <a:p>
            <a:pPr marL="400050" lvl="1" indent="0">
              <a:buNone/>
            </a:pP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4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1154403"/>
            <a:ext cx="8305800" cy="4074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REGISTER </a:t>
            </a:r>
            <a:r>
              <a:rPr lang="en-US" sz="1600" b="1" dirty="0" smtClean="0">
                <a:latin typeface="Arial" pitchFamily="34" charset="0"/>
                <a:ea typeface="Arial Unicode MS" pitchFamily="34" charset="-128"/>
                <a:cs typeface="Arial" pitchFamily="34" charset="0"/>
              </a:rPr>
              <a:t>permissions</a:t>
            </a:r>
            <a:endParaRPr lang="en-US" sz="1600" dirty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Only the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Docbase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owner with SUPERUSER privilege can register a table within Documentum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To register a table, user must have at least READ permission on the table (through the RDBMS grant command).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The Content Server account (installation owner) needs the appropriate RDBMS privileges on the table to perform different operations on rows in the table</a:t>
            </a:r>
            <a:r>
              <a:rPr lang="en-US" sz="1600" dirty="0" smtClean="0">
                <a:latin typeface="Arial" pitchFamily="34" charset="0"/>
                <a:ea typeface="Arial Unicode MS" pitchFamily="34" charset="-128"/>
                <a:cs typeface="Arial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600" dirty="0" smtClean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600" dirty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600" dirty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 smtClean="0">
                <a:latin typeface="Arial" pitchFamily="34" charset="0"/>
                <a:ea typeface="Arial Unicode MS" pitchFamily="34" charset="-128"/>
                <a:cs typeface="Arial" pitchFamily="34" charset="0"/>
              </a:rPr>
              <a:t>REGISTER Table : Select</a:t>
            </a:r>
            <a:endParaRPr lang="en-US" sz="1600" b="1" dirty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075244"/>
            <a:ext cx="63246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7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4865" y="1295400"/>
            <a:ext cx="8964706" cy="4343400"/>
          </a:xfrm>
        </p:spPr>
        <p:txBody>
          <a:bodyPr/>
          <a:lstStyle/>
          <a:p>
            <a:pPr marL="0" indent="0">
              <a:buNone/>
            </a:pPr>
            <a:endParaRPr lang="en-US" sz="1600" dirty="0" smtClean="0"/>
          </a:p>
          <a:p>
            <a:r>
              <a:rPr lang="en-US" sz="1600" dirty="0"/>
              <a:t>Specify </a:t>
            </a:r>
            <a:r>
              <a:rPr lang="en-US" sz="1600" dirty="0" smtClean="0"/>
              <a:t>owner name of the table if you do not own it 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smtClean="0"/>
              <a:t>- use alias </a:t>
            </a:r>
            <a:r>
              <a:rPr lang="en-US" sz="1600" dirty="0" err="1" smtClean="0"/>
              <a:t>dm_dbo</a:t>
            </a:r>
            <a:r>
              <a:rPr lang="en-US" sz="1600" dirty="0" smtClean="0"/>
              <a:t> if the owner of the table is the </a:t>
            </a:r>
            <a:r>
              <a:rPr lang="en-US" sz="1600" dirty="0" err="1" smtClean="0"/>
              <a:t>Docbase</a:t>
            </a:r>
            <a:r>
              <a:rPr lang="en-US" sz="1600" dirty="0" smtClean="0"/>
              <a:t> owner</a:t>
            </a:r>
          </a:p>
          <a:p>
            <a:pPr marL="0" indent="0">
              <a:buNone/>
            </a:pPr>
            <a:endParaRPr lang="en-US" sz="1600" dirty="0" smtClean="0"/>
          </a:p>
          <a:p>
            <a:r>
              <a:rPr lang="en-US" sz="1600" dirty="0" smtClean="0"/>
              <a:t>Insert</a:t>
            </a:r>
            <a:r>
              <a:rPr lang="en-US" sz="1600" dirty="0"/>
              <a:t>, Update and Delete values from Registered Tables </a:t>
            </a:r>
            <a:r>
              <a:rPr lang="en-US" sz="1600" dirty="0" smtClean="0"/>
              <a:t>:</a:t>
            </a:r>
          </a:p>
          <a:p>
            <a:pPr marL="0" indent="0">
              <a:buNone/>
            </a:pPr>
            <a:endParaRPr lang="en-US" sz="1600" dirty="0" smtClean="0"/>
          </a:p>
          <a:p>
            <a:pPr marL="40005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insert into </a:t>
            </a:r>
            <a:r>
              <a:rPr lang="en-US" sz="1600" dirty="0" err="1" smtClean="0">
                <a:solidFill>
                  <a:schemeClr val="tx2"/>
                </a:solidFill>
                <a:latin typeface="Arial Black" panose="020B0A04020102020204" pitchFamily="34" charset="0"/>
              </a:rPr>
              <a:t>owner_name.table_name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[(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column_name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{,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column_name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})] values (value{,value})|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dql_subselect</a:t>
            </a:r>
            <a:endParaRPr lang="en-US" sz="16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400050" lvl="1" indent="0">
              <a:buNone/>
            </a:pPr>
            <a:endParaRPr lang="en-US" sz="16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40005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update table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owner_name.table_name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set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column_assignments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where qualification</a:t>
            </a:r>
          </a:p>
          <a:p>
            <a:pPr marL="400050" lvl="1" indent="0">
              <a:buNone/>
            </a:pPr>
            <a:endParaRPr lang="en-US" sz="16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400050" lvl="1" indent="0">
              <a:buNone/>
            </a:pP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delete from </a:t>
            </a:r>
            <a:r>
              <a:rPr lang="en-US" sz="1600" dirty="0" err="1">
                <a:solidFill>
                  <a:schemeClr val="tx2"/>
                </a:solidFill>
                <a:latin typeface="Arial Black" panose="020B0A04020102020204" pitchFamily="34" charset="0"/>
              </a:rPr>
              <a:t>owner_name.table_name</a:t>
            </a:r>
            <a:r>
              <a:rPr lang="en-US" sz="1600" dirty="0">
                <a:solidFill>
                  <a:schemeClr val="tx2"/>
                </a:solidFill>
                <a:latin typeface="Arial Black" panose="020B0A04020102020204" pitchFamily="34" charset="0"/>
              </a:rPr>
              <a:t> where qualification</a:t>
            </a:r>
          </a:p>
          <a:p>
            <a:pPr marL="800100" lvl="2" indent="0">
              <a:buNone/>
            </a:pPr>
            <a:endParaRPr lang="en-US" dirty="0" smtClean="0">
              <a:solidFill>
                <a:schemeClr val="accent1"/>
              </a:solidFill>
            </a:endParaRPr>
          </a:p>
          <a:p>
            <a:pPr marL="800100" lvl="2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29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your understanding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7274" y="898229"/>
            <a:ext cx="8229600" cy="5135563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This Query Returns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1657350" lvl="3" indent="-400050">
              <a:buFont typeface="+mj-lt"/>
              <a:buAutoNum type="alphaUcPeriod"/>
            </a:pPr>
            <a:r>
              <a:rPr lang="en-US" sz="1600" dirty="0" smtClean="0"/>
              <a:t> A list of object names, authors, owners and content type for all documents (all versions) in the repository</a:t>
            </a:r>
          </a:p>
          <a:p>
            <a:pPr marL="1657350" lvl="3" indent="-400050">
              <a:buFont typeface="+mj-lt"/>
              <a:buAutoNum type="alphaUcPeriod"/>
            </a:pPr>
            <a:endParaRPr lang="en-US" sz="1600" dirty="0" smtClean="0"/>
          </a:p>
          <a:p>
            <a:pPr marL="1657350" lvl="3" indent="-400050">
              <a:buFont typeface="+mj-lt"/>
              <a:buAutoNum type="alphaUcPeriod"/>
            </a:pPr>
            <a:r>
              <a:rPr lang="en-US" sz="1600" dirty="0"/>
              <a:t> A list of object names, </a:t>
            </a:r>
            <a:r>
              <a:rPr lang="en-US" sz="1600" dirty="0" smtClean="0"/>
              <a:t>authors, owners </a:t>
            </a:r>
            <a:r>
              <a:rPr lang="en-US" sz="1600" dirty="0"/>
              <a:t>and content type for all documents </a:t>
            </a:r>
            <a:r>
              <a:rPr lang="en-US" sz="1600" dirty="0" smtClean="0"/>
              <a:t>(Current </a:t>
            </a:r>
            <a:r>
              <a:rPr lang="en-US" sz="1600" dirty="0"/>
              <a:t>versions) in the </a:t>
            </a:r>
            <a:r>
              <a:rPr lang="en-US" sz="1600" dirty="0" smtClean="0"/>
              <a:t>repository</a:t>
            </a:r>
          </a:p>
          <a:p>
            <a:pPr marL="1657350" lvl="3" indent="-400050">
              <a:buFont typeface="+mj-lt"/>
              <a:buAutoNum type="alphaUcPeriod"/>
            </a:pPr>
            <a:endParaRPr lang="en-US" sz="1600" dirty="0" smtClean="0"/>
          </a:p>
          <a:p>
            <a:pPr marL="1657350" lvl="3" indent="-400050">
              <a:buFont typeface="+mj-lt"/>
              <a:buAutoNum type="alphaUcPeriod"/>
            </a:pPr>
            <a:r>
              <a:rPr lang="en-US" sz="1600" dirty="0" smtClean="0"/>
              <a:t>No results, there is an error in the query</a:t>
            </a:r>
            <a:endParaRPr lang="en-US" sz="1600" dirty="0"/>
          </a:p>
          <a:p>
            <a:pPr marL="1657350" lvl="3" indent="-400050">
              <a:buFont typeface="+mj-lt"/>
              <a:buAutoNum type="alphaUcPeriod"/>
            </a:pPr>
            <a:endParaRPr lang="en-US" sz="16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33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95400" y="1600200"/>
            <a:ext cx="6934200" cy="1524000"/>
          </a:xfrm>
          <a:prstGeom prst="rect">
            <a:avLst/>
          </a:prstGeom>
          <a:ln>
            <a:solidFill>
              <a:schemeClr val="accent1">
                <a:shade val="50000"/>
                <a:alpha val="70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select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anose="020B0A04020102020204" pitchFamily="34" charset="0"/>
              </a:rPr>
              <a:t>object_name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US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authors, </a:t>
            </a:r>
            <a:r>
              <a:rPr lang="en-US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owner_name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a_content_type</a:t>
            </a:r>
            <a:r>
              <a:rPr lang="en-US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from </a:t>
            </a:r>
            <a:r>
              <a:rPr lang="en-US" dirty="0" err="1">
                <a:solidFill>
                  <a:schemeClr val="bg1"/>
                </a:solidFill>
                <a:latin typeface="Arial Black" panose="020B0A04020102020204" pitchFamily="34" charset="0"/>
              </a:rPr>
              <a:t>dm_document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 order by </a:t>
            </a:r>
            <a:r>
              <a:rPr lang="en-US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 rot="10800000">
            <a:off x="7315200" y="580986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Answer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6"/>
                </a:solidFill>
              </a:rPr>
              <a:t>B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95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2. This Query Returns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1657350" lvl="3" indent="-400050">
              <a:buFont typeface="+mj-lt"/>
              <a:buAutoNum type="alphaUcPeriod"/>
            </a:pPr>
            <a:r>
              <a:rPr lang="en-US" dirty="0"/>
              <a:t>A list of object id, object name, owner name and creation date for documents created between 01st Jan and 28th Feb</a:t>
            </a:r>
            <a:r>
              <a:rPr lang="en-US" dirty="0" smtClean="0"/>
              <a:t>.</a:t>
            </a:r>
          </a:p>
          <a:p>
            <a:pPr marL="1657350" lvl="3" indent="-400050">
              <a:buFont typeface="+mj-lt"/>
              <a:buAutoNum type="alphaUcPeriod"/>
            </a:pPr>
            <a:endParaRPr lang="en-US" dirty="0" smtClean="0"/>
          </a:p>
          <a:p>
            <a:pPr marL="1657350" lvl="3" indent="-400050">
              <a:buFont typeface="+mj-lt"/>
              <a:buAutoNum type="alphaUcPeriod"/>
            </a:pPr>
            <a:r>
              <a:rPr lang="en-US" dirty="0" smtClean="0"/>
              <a:t>A </a:t>
            </a:r>
            <a:r>
              <a:rPr lang="en-US" dirty="0"/>
              <a:t>list of object id, object name, owner name and creation date for documents created between 01st Jan and 28th </a:t>
            </a:r>
            <a:r>
              <a:rPr lang="en-US" dirty="0" smtClean="0"/>
              <a:t>Feb and also documents created on Jan 01</a:t>
            </a:r>
            <a:r>
              <a:rPr lang="en-US" baseline="30000" dirty="0" smtClean="0"/>
              <a:t>st</a:t>
            </a:r>
            <a:r>
              <a:rPr lang="en-US" dirty="0"/>
              <a:t> and Feb 28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smtClean="0"/>
              <a:t>.</a:t>
            </a:r>
          </a:p>
          <a:p>
            <a:pPr marL="1657350" lvl="3" indent="-400050">
              <a:buFont typeface="+mj-lt"/>
              <a:buAutoNum type="alphaUcPeriod"/>
            </a:pPr>
            <a:endParaRPr lang="en-US" dirty="0" smtClean="0"/>
          </a:p>
          <a:p>
            <a:pPr marL="1657350" lvl="3" indent="-400050">
              <a:buFont typeface="+mj-lt"/>
              <a:buAutoNum type="alphaUcPeriod"/>
            </a:pPr>
            <a:r>
              <a:rPr lang="en-US" dirty="0"/>
              <a:t>A list of object id, object name, owner name and creation date for documents created between 01st Jan and 28th Feb and also documents created on Jan </a:t>
            </a:r>
            <a:r>
              <a:rPr lang="en-US" dirty="0" smtClean="0"/>
              <a:t>01</a:t>
            </a:r>
            <a:r>
              <a:rPr lang="en-US" baseline="30000" dirty="0" smtClean="0"/>
              <a:t>st</a:t>
            </a:r>
            <a:r>
              <a:rPr lang="en-US" dirty="0" smtClean="0"/>
              <a:t> </a:t>
            </a:r>
          </a:p>
          <a:p>
            <a:pPr marL="1657350" lvl="3" indent="-400050">
              <a:buFont typeface="+mj-lt"/>
              <a:buAutoNum type="alphaUcPeriod"/>
            </a:pPr>
            <a:endParaRPr lang="en-US" dirty="0" smtClean="0"/>
          </a:p>
          <a:p>
            <a:pPr marL="1657350" lvl="3" indent="-400050">
              <a:buFont typeface="+mj-lt"/>
              <a:buAutoNum type="alphaUcPeriod"/>
            </a:pPr>
            <a:r>
              <a:rPr lang="en-US" dirty="0" smtClean="0"/>
              <a:t>No </a:t>
            </a:r>
            <a:r>
              <a:rPr lang="en-US" dirty="0"/>
              <a:t>results, there is an error in the query</a:t>
            </a:r>
          </a:p>
          <a:p>
            <a:pPr marL="1257300" lvl="3" indent="0">
              <a:buNone/>
            </a:pPr>
            <a:endParaRPr lang="en-US" sz="1600" dirty="0" smtClean="0"/>
          </a:p>
          <a:p>
            <a:pPr marL="1657350" lvl="3" indent="-400050">
              <a:buFont typeface="+mj-lt"/>
              <a:buAutoNum type="alphaUcPeriod"/>
            </a:pPr>
            <a:endParaRPr lang="en-US" sz="1600" dirty="0" smtClean="0"/>
          </a:p>
          <a:p>
            <a:pPr marL="1657350" lvl="3" indent="-400050">
              <a:buFont typeface="+mj-lt"/>
              <a:buAutoNum type="alphaUcPeriod"/>
            </a:pP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43000" y="1447800"/>
            <a:ext cx="7239000" cy="1524000"/>
          </a:xfrm>
          <a:prstGeom prst="rect">
            <a:avLst/>
          </a:prstGeom>
          <a:ln>
            <a:solidFill>
              <a:schemeClr val="accent1">
                <a:shade val="50000"/>
                <a:alpha val="70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Arial Black" panose="020B0A04020102020204" pitchFamily="34" charset="0"/>
              </a:rPr>
              <a:t>select </a:t>
            </a:r>
            <a:r>
              <a:rPr lang="en-US" sz="1600" dirty="0" err="1">
                <a:latin typeface="Arial Black" panose="020B0A04020102020204" pitchFamily="34" charset="0"/>
              </a:rPr>
              <a:t>r_object_id,object_name,owner_name,r_creation_date</a:t>
            </a:r>
            <a:r>
              <a:rPr lang="en-US" sz="1600" dirty="0">
                <a:latin typeface="Arial Black" panose="020B0A04020102020204" pitchFamily="34" charset="0"/>
              </a:rPr>
              <a:t> from </a:t>
            </a:r>
            <a:r>
              <a:rPr lang="en-US" sz="1600" dirty="0" err="1">
                <a:latin typeface="Arial Black" panose="020B0A04020102020204" pitchFamily="34" charset="0"/>
              </a:rPr>
              <a:t>dm_document</a:t>
            </a:r>
            <a:r>
              <a:rPr lang="en-US" sz="1600" dirty="0">
                <a:latin typeface="Arial Black" panose="020B0A04020102020204" pitchFamily="34" charset="0"/>
              </a:rPr>
              <a:t> where </a:t>
            </a:r>
            <a:r>
              <a:rPr lang="en-US" sz="1600" dirty="0" err="1">
                <a:latin typeface="Arial Black" panose="020B0A04020102020204" pitchFamily="34" charset="0"/>
              </a:rPr>
              <a:t>r_creation_date</a:t>
            </a:r>
            <a:r>
              <a:rPr lang="en-US" sz="1600" dirty="0">
                <a:latin typeface="Arial Black" panose="020B0A04020102020204" pitchFamily="34" charset="0"/>
              </a:rPr>
              <a:t> &lt; DATE('02/28/2018') and </a:t>
            </a:r>
            <a:r>
              <a:rPr lang="en-US" sz="1600" dirty="0" err="1">
                <a:latin typeface="Arial Black" panose="020B0A04020102020204" pitchFamily="34" charset="0"/>
              </a:rPr>
              <a:t>r_creation_date</a:t>
            </a:r>
            <a:r>
              <a:rPr lang="en-US" sz="1600" dirty="0">
                <a:latin typeface="Arial Black" panose="020B0A04020102020204" pitchFamily="34" charset="0"/>
              </a:rPr>
              <a:t> &gt; DATE('01/01/2018')</a:t>
            </a:r>
          </a:p>
        </p:txBody>
      </p:sp>
      <p:sp>
        <p:nvSpPr>
          <p:cNvPr id="7" name="TextBox 6"/>
          <p:cNvSpPr txBox="1"/>
          <p:nvPr/>
        </p:nvSpPr>
        <p:spPr>
          <a:xfrm rot="10800000">
            <a:off x="7010400" y="5745163"/>
            <a:ext cx="1371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Answer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6"/>
                </a:solidFill>
              </a:rPr>
              <a:t>C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42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 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800" dirty="0" smtClean="0"/>
              <a:t>Frame DQL query to return document name, owner name and document format for all versions.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Frame DQL query to get maximum size of a document in the repository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Frame DQL query to get list of process id’s and names which is in installed state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Frame DQL query to run the job.</a:t>
            </a:r>
          </a:p>
          <a:p>
            <a:pPr>
              <a:buFont typeface="+mj-lt"/>
              <a:buAutoNum type="arabicPeriod"/>
            </a:pPr>
            <a:r>
              <a:rPr lang="en-US" sz="1800" dirty="0" smtClean="0"/>
              <a:t>Frame DQL to find the workflow details from the document attached to it.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72704"/>
              </p:ext>
            </p:extLst>
          </p:nvPr>
        </p:nvGraphicFramePr>
        <p:xfrm>
          <a:off x="6417732" y="4343400"/>
          <a:ext cx="2269068" cy="1564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Document" showAsIcon="1" r:id="rId3" imgW="914400" imgH="771480" progId="Word.Document.12">
                  <p:embed/>
                </p:oleObj>
              </mc:Choice>
              <mc:Fallback>
                <p:oleObj name="Document" showAsIcon="1" r:id="rId3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7732" y="4343400"/>
                        <a:ext cx="2269068" cy="15640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295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3094" y="2286000"/>
            <a:ext cx="4648200" cy="1540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705" dirty="0" smtClean="0">
                <a:solidFill>
                  <a:prstClr val="white"/>
                </a:solidFill>
                <a:latin typeface="Arial Rounded MT Bold" pitchFamily="34" charset="0"/>
              </a:rPr>
              <a:t>Introduction to 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08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/>
          <a:lstStyle/>
          <a:p>
            <a:r>
              <a:rPr lang="en-US" sz="1800" dirty="0" smtClean="0"/>
              <a:t>API’s are Documentum Application Programming Interface</a:t>
            </a:r>
          </a:p>
          <a:p>
            <a:endParaRPr lang="en-US" sz="1800" dirty="0" smtClean="0"/>
          </a:p>
          <a:p>
            <a:r>
              <a:rPr lang="en-US" sz="1800" dirty="0"/>
              <a:t>API commands, also referred to as Server API, are instructions or commands sent by clients to Content Server through DMCL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r>
              <a:rPr lang="en-US" sz="1800" dirty="0"/>
              <a:t>API commands work on one object at a </a:t>
            </a:r>
            <a:r>
              <a:rPr lang="en-US" sz="1800" dirty="0" smtClean="0"/>
              <a:t>time to query its properties and do modifications to objects in the repository.</a:t>
            </a:r>
          </a:p>
          <a:p>
            <a:endParaRPr lang="en-US" sz="1800" dirty="0" smtClean="0"/>
          </a:p>
          <a:p>
            <a:r>
              <a:rPr lang="en-US" sz="1800" dirty="0"/>
              <a:t>API commands </a:t>
            </a:r>
            <a:r>
              <a:rPr lang="en-US" sz="1800" dirty="0" smtClean="0"/>
              <a:t>used for </a:t>
            </a:r>
            <a:r>
              <a:rPr lang="en-US" sz="1800" dirty="0"/>
              <a:t>system troubleshooting and administration/monitoring </a:t>
            </a:r>
            <a:r>
              <a:rPr lang="en-US" sz="1800" dirty="0" smtClean="0"/>
              <a:t>purposes.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0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Tester in DA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447800"/>
            <a:ext cx="7696200" cy="38100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6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Tester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0600"/>
            <a:ext cx="8229600" cy="513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Below are few of API Server Methods:</a:t>
            </a:r>
          </a:p>
          <a:p>
            <a:pPr lvl="1"/>
            <a:r>
              <a:rPr lang="en-US" dirty="0"/>
              <a:t>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Methods for communicating with server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Methods for handling objects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Methods for searching the repository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Methods for handling content objects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Methods for handling workflows</a:t>
            </a:r>
          </a:p>
          <a:p>
            <a:pPr lvl="1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dirty="0" smtClean="0">
              <a:solidFill>
                <a:srgbClr val="00808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008080"/>
              </a:solidFill>
            </a:endParaRPr>
          </a:p>
          <a:p>
            <a:pPr marL="457200" lvl="1" indent="0">
              <a:buNone/>
            </a:pPr>
            <a:endParaRPr lang="en-US" dirty="0" smtClean="0">
              <a:solidFill>
                <a:srgbClr val="00808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008080"/>
              </a:solidFill>
            </a:endParaRPr>
          </a:p>
          <a:p>
            <a:pPr marL="457200" lvl="1" indent="0">
              <a:buNone/>
            </a:pPr>
            <a:endParaRPr lang="en-US" dirty="0" smtClean="0">
              <a:solidFill>
                <a:srgbClr val="00808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008080"/>
              </a:solidFill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rgbClr val="008080"/>
                </a:solidFill>
              </a:rPr>
              <a:t>Note </a:t>
            </a:r>
            <a:r>
              <a:rPr lang="en-US" dirty="0">
                <a:solidFill>
                  <a:srgbClr val="008080"/>
                </a:solidFill>
              </a:rPr>
              <a:t>: </a:t>
            </a:r>
            <a:r>
              <a:rPr lang="en-US" dirty="0" smtClean="0">
                <a:solidFill>
                  <a:srgbClr val="008080"/>
                </a:solidFill>
              </a:rPr>
              <a:t>Identifier ‘C</a:t>
            </a:r>
            <a:r>
              <a:rPr lang="en-US" dirty="0">
                <a:solidFill>
                  <a:srgbClr val="008080"/>
                </a:solidFill>
              </a:rPr>
              <a:t>’ in the API Commands represent current session.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8080"/>
                </a:solidFill>
              </a:rPr>
              <a:t>	     </a:t>
            </a:r>
            <a:r>
              <a:rPr lang="en-US" dirty="0" smtClean="0">
                <a:solidFill>
                  <a:srgbClr val="008080"/>
                </a:solidFill>
              </a:rPr>
              <a:t>Similarly ‘</a:t>
            </a:r>
            <a:r>
              <a:rPr lang="en-US" dirty="0">
                <a:solidFill>
                  <a:srgbClr val="008080"/>
                </a:solidFill>
              </a:rPr>
              <a:t>L’ represents the </a:t>
            </a:r>
            <a:r>
              <a:rPr lang="en-US" dirty="0" err="1" smtClean="0">
                <a:solidFill>
                  <a:srgbClr val="008080"/>
                </a:solidFill>
              </a:rPr>
              <a:t>r_object_id</a:t>
            </a:r>
            <a:r>
              <a:rPr lang="en-US" dirty="0">
                <a:solidFill>
                  <a:srgbClr val="008080"/>
                </a:solidFill>
              </a:rPr>
              <a:t> (last </a:t>
            </a:r>
            <a:r>
              <a:rPr lang="en-US" dirty="0" smtClean="0">
                <a:solidFill>
                  <a:srgbClr val="008080"/>
                </a:solidFill>
              </a:rPr>
              <a:t>used) </a:t>
            </a:r>
            <a:r>
              <a:rPr lang="en-US" dirty="0">
                <a:solidFill>
                  <a:srgbClr val="008080"/>
                </a:solidFill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7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2412"/>
            <a:ext cx="8305800" cy="510988"/>
          </a:xfrm>
        </p:spPr>
        <p:txBody>
          <a:bodyPr/>
          <a:lstStyle/>
          <a:p>
            <a:r>
              <a:rPr lang="en-US" b="1" dirty="0"/>
              <a:t>Methods for communicating with </a:t>
            </a:r>
            <a:r>
              <a:rPr lang="en-US" b="1" dirty="0" smtClean="0"/>
              <a:t>server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3095" y="990600"/>
            <a:ext cx="8878980" cy="5135563"/>
          </a:xfrm>
        </p:spPr>
        <p:txBody>
          <a:bodyPr/>
          <a:lstStyle/>
          <a:p>
            <a:pPr marL="0" indent="0">
              <a:buNone/>
            </a:pP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92562"/>
            <a:ext cx="8143875" cy="2332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46781"/>
              </p:ext>
            </p:extLst>
          </p:nvPr>
        </p:nvGraphicFramePr>
        <p:xfrm>
          <a:off x="304800" y="639761"/>
          <a:ext cx="8296275" cy="3090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22589748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648341614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3504113116"/>
                    </a:ext>
                  </a:extLst>
                </a:gridCol>
              </a:tblGrid>
              <a:tr h="364005">
                <a:tc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API</a:t>
                      </a:r>
                      <a:r>
                        <a:rPr lang="en-US" baseline="0" dirty="0" smtClean="0"/>
                        <a:t> Command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231715"/>
                  </a:ext>
                </a:extLst>
              </a:tr>
              <a:tr h="747079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Abort 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Cancels all changes made in an open explicit database transaction.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abort,c</a:t>
                      </a:r>
                      <a:r>
                        <a:rPr lang="en-US" sz="1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</a:t>
                      </a:r>
                      <a:r>
                        <a:rPr lang="en-US" sz="14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abort,session</a:t>
                      </a:r>
                      <a:endParaRPr lang="en-US" sz="14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12717"/>
                  </a:ext>
                </a:extLst>
              </a:tr>
              <a:tr h="364005">
                <a:tc>
                  <a:txBody>
                    <a:bodyPr/>
                    <a:lstStyle/>
                    <a:p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Begintran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Opens an explicit database transaction.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begintran,c</a:t>
                      </a:r>
                      <a:endParaRPr lang="en-US" sz="14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926037"/>
                  </a:ext>
                </a:extLst>
              </a:tr>
              <a:tr h="364005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Saves changes made during an explicit database transaction and closes the transaction.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commit,c</a:t>
                      </a:r>
                      <a:endParaRPr lang="en-US" sz="14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881474"/>
                  </a:ext>
                </a:extLst>
              </a:tr>
              <a:tr h="36400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Disconnect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Disconnects a session.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disconnect,c</a:t>
                      </a:r>
                      <a:endParaRPr lang="en-US" sz="14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274824"/>
                  </a:ext>
                </a:extLst>
              </a:tr>
              <a:tr h="364005">
                <a:tc>
                  <a:txBody>
                    <a:bodyPr/>
                    <a:lstStyle/>
                    <a:p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Getlogin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Obtains a ticket that an application can substitute for the current user’s password as an argument to the Connect method.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getlogin,c</a:t>
                      </a:r>
                      <a:endParaRPr lang="en-US" sz="14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69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79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for handling </a:t>
            </a:r>
            <a:r>
              <a:rPr lang="en-US" b="1" dirty="0" smtClean="0"/>
              <a:t>objects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284109"/>
              </p:ext>
            </p:extLst>
          </p:nvPr>
        </p:nvGraphicFramePr>
        <p:xfrm>
          <a:off x="318247" y="690132"/>
          <a:ext cx="8592798" cy="5329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753">
                  <a:extLst>
                    <a:ext uri="{9D8B030D-6E8A-4147-A177-3AD203B41FA5}">
                      <a16:colId xmlns:a16="http://schemas.microsoft.com/office/drawing/2014/main" val="4229288133"/>
                    </a:ext>
                  </a:extLst>
                </a:gridCol>
                <a:gridCol w="4522779">
                  <a:extLst>
                    <a:ext uri="{9D8B030D-6E8A-4147-A177-3AD203B41FA5}">
                      <a16:colId xmlns:a16="http://schemas.microsoft.com/office/drawing/2014/main" val="1152427956"/>
                    </a:ext>
                  </a:extLst>
                </a:gridCol>
                <a:gridCol w="2864266">
                  <a:extLst>
                    <a:ext uri="{9D8B030D-6E8A-4147-A177-3AD203B41FA5}">
                      <a16:colId xmlns:a16="http://schemas.microsoft.com/office/drawing/2014/main" val="2142166902"/>
                    </a:ext>
                  </a:extLst>
                </a:gridCol>
              </a:tblGrid>
              <a:tr h="517618">
                <a:tc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587036"/>
                  </a:ext>
                </a:extLst>
              </a:tr>
              <a:tr h="586633">
                <a:tc>
                  <a:txBody>
                    <a:bodyPr/>
                    <a:lstStyle/>
                    <a:p>
                      <a:r>
                        <a:rPr lang="en-US" sz="1400" b="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Checkin</a:t>
                      </a:r>
                      <a:endParaRPr lang="en-US" sz="1400" b="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Creates and saves a new version of a checked-out object.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checkin,c,r_object_id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146522"/>
                  </a:ext>
                </a:extLst>
              </a:tr>
              <a:tr h="586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Checks an object out of the repository and places a lock on the object.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checkout,c,r_object_id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91488"/>
                  </a:ext>
                </a:extLst>
              </a:tr>
              <a:tr h="586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Promotes an object from its current normal lifecycle state to the next normal state.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promote,c,r_object_id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81502"/>
                  </a:ext>
                </a:extLst>
              </a:tr>
              <a:tr h="586633">
                <a:tc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Demote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Demotes an object from its current normal lifecycle state to the previous normal state.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demote,c,r_object_id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03217"/>
                  </a:ext>
                </a:extLst>
              </a:tr>
              <a:tr h="402084">
                <a:tc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Destroy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Removes an object from the repository.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destroy,c,r_object_id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140585"/>
                  </a:ext>
                </a:extLst>
              </a:tr>
              <a:tr h="586633">
                <a:tc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Dump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Returns all attribute names and values or data dictionary information for an object.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dump,c,r_object_id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18922"/>
                  </a:ext>
                </a:extLst>
              </a:tr>
              <a:tr h="5866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Retrieves an object from the repository but does not place a lock on the object.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fetch,c,r_object_id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749796"/>
                  </a:ext>
                </a:extLst>
              </a:tr>
              <a:tr h="4880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Freeze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Marks an object as unchangeable.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freeze,c,r_object_id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953477"/>
                  </a:ext>
                </a:extLst>
              </a:tr>
              <a:tr h="402084">
                <a:tc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Unfreeze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Unlinks an object from a folder or cabinet.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unfreeze,c,r_object_id</a:t>
                      </a:r>
                      <a:endParaRPr lang="en-US" sz="1400" b="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100347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5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43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48246799"/>
              </p:ext>
            </p:extLst>
          </p:nvPr>
        </p:nvGraphicFramePr>
        <p:xfrm>
          <a:off x="276726" y="685800"/>
          <a:ext cx="8229600" cy="1814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436235932"/>
                    </a:ext>
                  </a:extLst>
                </a:gridCol>
                <a:gridCol w="4523874">
                  <a:extLst>
                    <a:ext uri="{9D8B030D-6E8A-4147-A177-3AD203B41FA5}">
                      <a16:colId xmlns:a16="http://schemas.microsoft.com/office/drawing/2014/main" val="3442923387"/>
                    </a:ext>
                  </a:extLst>
                </a:gridCol>
                <a:gridCol w="2638926">
                  <a:extLst>
                    <a:ext uri="{9D8B030D-6E8A-4147-A177-3AD203B41FA5}">
                      <a16:colId xmlns:a16="http://schemas.microsoft.com/office/drawing/2014/main" val="3922148690"/>
                    </a:ext>
                  </a:extLst>
                </a:gridCol>
              </a:tblGrid>
              <a:tr h="327544">
                <a:tc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631295"/>
                  </a:ext>
                </a:extLst>
              </a:tr>
              <a:tr h="561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Links an object to a particular folder or cabinet.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link,c,r_object_id,folder_path</a:t>
                      </a:r>
                      <a:endParaRPr lang="en-US" sz="140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092900"/>
                  </a:ext>
                </a:extLst>
              </a:tr>
              <a:tr h="325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Unlinks an object from a folder or cabinet.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unlink,c,r_object_id,folder_path</a:t>
                      </a:r>
                      <a:endParaRPr lang="en-US" sz="140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304719"/>
                  </a:ext>
                </a:extLst>
              </a:tr>
              <a:tr h="561680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Save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Saves an object, overwriting the object currently in the repository.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save,c,r_object_id</a:t>
                      </a:r>
                      <a:r>
                        <a:rPr lang="en-US" sz="14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/ </a:t>
                      </a:r>
                      <a:r>
                        <a:rPr lang="en-US" sz="14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save,c,l</a:t>
                      </a:r>
                      <a:endParaRPr lang="en-US" sz="1400" kern="12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48181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3" y="2827246"/>
            <a:ext cx="4191000" cy="34973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263" y="2971800"/>
            <a:ext cx="4343399" cy="289560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495800" y="2827246"/>
            <a:ext cx="0" cy="3914616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lg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87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412"/>
            <a:ext cx="7543800" cy="510988"/>
          </a:xfrm>
        </p:spPr>
        <p:txBody>
          <a:bodyPr/>
          <a:lstStyle/>
          <a:p>
            <a:r>
              <a:rPr lang="en-US" b="1" dirty="0"/>
              <a:t>Methods for searching the </a:t>
            </a:r>
            <a:r>
              <a:rPr lang="en-US" b="1" dirty="0" smtClean="0"/>
              <a:t>repository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785985"/>
              </p:ext>
            </p:extLst>
          </p:nvPr>
        </p:nvGraphicFramePr>
        <p:xfrm>
          <a:off x="457200" y="990600"/>
          <a:ext cx="8229600" cy="3403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84307262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87441872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93819864"/>
                    </a:ext>
                  </a:extLst>
                </a:gridCol>
              </a:tblGrid>
              <a:tr h="437843">
                <a:tc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29115"/>
                  </a:ext>
                </a:extLst>
              </a:tr>
              <a:tr h="971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Execquery</a:t>
                      </a:r>
                      <a:endParaRPr lang="en-US" sz="160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Executes a DQL statement longer than 255 characters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execquery,session</a:t>
                      </a:r>
                      <a:r>
                        <a:rPr lang="en-US" sz="16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[</a:t>
                      </a:r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readquery_flag</a:t>
                      </a:r>
                      <a:r>
                        <a:rPr lang="en-US" sz="16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],</a:t>
                      </a:r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dql_query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640698"/>
                  </a:ext>
                </a:extLst>
              </a:tr>
              <a:tr h="683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Execsql</a:t>
                      </a:r>
                      <a:endParaRPr lang="en-US" sz="160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Executes any SQL statement except a SELECT statement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execsql,session,sql_statement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660818"/>
                  </a:ext>
                </a:extLst>
              </a:tr>
              <a:tr h="1259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Executes a DQL query and returns the identifier for the resulting collection. The method allows you to modify data in the repository during query result processing.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query,session,dql_query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4668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6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412"/>
            <a:ext cx="7620000" cy="510988"/>
          </a:xfrm>
        </p:spPr>
        <p:txBody>
          <a:bodyPr/>
          <a:lstStyle/>
          <a:p>
            <a:r>
              <a:rPr lang="en-US" b="1" dirty="0"/>
              <a:t>Methods for handling content </a:t>
            </a:r>
            <a:r>
              <a:rPr lang="en-US" b="1" dirty="0" smtClean="0"/>
              <a:t>objects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4347625"/>
              </p:ext>
            </p:extLst>
          </p:nvPr>
        </p:nvGraphicFramePr>
        <p:xfrm>
          <a:off x="457200" y="990600"/>
          <a:ext cx="8382000" cy="4800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96517013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34068376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747595276"/>
                    </a:ext>
                  </a:extLst>
                </a:gridCol>
              </a:tblGrid>
              <a:tr h="381332">
                <a:tc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80738"/>
                  </a:ext>
                </a:extLst>
              </a:tr>
              <a:tr h="9402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Getcontent</a:t>
                      </a:r>
                      <a:endParaRPr lang="en-US" sz="1600" b="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Retrieves a content file from the repository and places it in working memory.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getcontent,session,object_id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158701"/>
                  </a:ext>
                </a:extLst>
              </a:tr>
              <a:tr h="9402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Getfile</a:t>
                      </a:r>
                      <a:endParaRPr lang="en-US" sz="1600" b="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Returns the name of the file containing content in a particular format.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getfile,session,object_id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51339"/>
                  </a:ext>
                </a:extLst>
              </a:tr>
              <a:tr h="6581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Getpath</a:t>
                      </a: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Returns the internal path specification to a content file.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getpath,session,object_id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86844"/>
                  </a:ext>
                </a:extLst>
              </a:tr>
              <a:tr h="6581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Removecontent</a:t>
                      </a: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Removes content from an object.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removecontent,session,object_id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781031"/>
                  </a:ext>
                </a:extLst>
              </a:tr>
              <a:tr h="12223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Setcontent</a:t>
                      </a: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Sets data in working memory as new content or uses it to replace content.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setcontent,session,object_id</a:t>
                      </a:r>
                      <a:r>
                        <a:rPr lang="en-US" sz="16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r>
                        <a:rPr lang="en-US" sz="16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[,format[,</a:t>
                      </a:r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page_number</a:t>
                      </a:r>
                      <a:r>
                        <a:rPr lang="en-US" sz="16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][,length][,</a:t>
                      </a:r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set_resource</a:t>
                      </a:r>
                      <a:r>
                        <a:rPr lang="en-US" sz="16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]","content”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64259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3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for handling </a:t>
            </a:r>
            <a:r>
              <a:rPr lang="en-US" b="1" dirty="0" err="1"/>
              <a:t>work</a:t>
            </a:r>
            <a:r>
              <a:rPr lang="en-US" b="1" dirty="0" err="1" smtClean="0"/>
              <a:t>ows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5728004"/>
              </p:ext>
            </p:extLst>
          </p:nvPr>
        </p:nvGraphicFramePr>
        <p:xfrm>
          <a:off x="457200" y="990600"/>
          <a:ext cx="8229600" cy="297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678181552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5814973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33018230"/>
                    </a:ext>
                  </a:extLst>
                </a:gridCol>
              </a:tblGrid>
              <a:tr h="45301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92951"/>
                  </a:ext>
                </a:extLst>
              </a:tr>
              <a:tr h="453015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Aborts a workflow.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abort,c,workflow_id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132168"/>
                  </a:ext>
                </a:extLst>
              </a:tr>
              <a:tr h="453015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Starts a workflow.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execute,c,workflow_id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722903"/>
                  </a:ext>
                </a:extLst>
              </a:tr>
              <a:tr h="453015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Halt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Halts a workflow or activity.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halt,c,workflow_id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771307"/>
                  </a:ext>
                </a:extLst>
              </a:tr>
              <a:tr h="453015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Restart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Restarts a halted workflow or activity.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restart,c,workflow_id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45848"/>
                  </a:ext>
                </a:extLst>
              </a:tr>
              <a:tr h="707449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Setoutput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Defines the output port for manual transition of a work item.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setoutput,session,workitem_id</a:t>
                      </a:r>
                      <a:r>
                        <a:rPr lang="en-US" sz="16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{,</a:t>
                      </a:r>
                      <a:r>
                        <a:rPr lang="en-US" sz="1600" kern="1200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output_port_name</a:t>
                      </a:r>
                      <a:r>
                        <a:rPr lang="en-US" sz="160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}</a:t>
                      </a:r>
                      <a:endParaRPr lang="en-US" sz="16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986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3400" y="4405199"/>
            <a:ext cx="6096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API TO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COMPLETE THE PAUSED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AUTO-ACTIVITY</a:t>
            </a:r>
            <a:endParaRPr lang="en-US" sz="28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 smtClean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dirty="0" err="1" smtClean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restart,c,workflow_id,act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seq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no</a:t>
            </a:r>
            <a:endParaRPr lang="en-US" sz="2800" dirty="0">
              <a:solidFill>
                <a:srgbClr val="0070C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setoutput,c,workitem_id,Output:0</a:t>
            </a:r>
            <a:endParaRPr lang="en-US" sz="2800" dirty="0">
              <a:solidFill>
                <a:srgbClr val="0070C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complete,c,workitem_id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 </a:t>
            </a:r>
            <a:endParaRPr lang="en-US" sz="2800" dirty="0">
              <a:solidFill>
                <a:srgbClr val="0070C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82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your understanding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229600" cy="5410200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1600" dirty="0" smtClean="0"/>
              <a:t>Above API Command will set object name for an object and the object name will save in repository?</a:t>
            </a:r>
          </a:p>
          <a:p>
            <a:pPr marL="2628900" lvl="5" indent="-457200">
              <a:buFont typeface="+mj-lt"/>
              <a:buAutoNum type="alphaUcPeriod"/>
            </a:pPr>
            <a:r>
              <a:rPr lang="en-US" sz="1600" dirty="0" smtClean="0"/>
              <a:t>Yes</a:t>
            </a:r>
          </a:p>
          <a:p>
            <a:pPr marL="2628900" lvl="5" indent="-457200">
              <a:buFont typeface="+mj-lt"/>
              <a:buAutoNum type="alphaUcPeriod"/>
            </a:pPr>
            <a:r>
              <a:rPr lang="en-US" sz="1600" dirty="0" smtClean="0"/>
              <a:t> No </a:t>
            </a:r>
          </a:p>
          <a:p>
            <a:pPr marL="2171700" lvl="5" indent="0">
              <a:buNone/>
            </a:pPr>
            <a:endParaRPr lang="en-US" sz="16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1600" dirty="0" smtClean="0"/>
              <a:t>Name </a:t>
            </a:r>
            <a:r>
              <a:rPr lang="en-US" sz="1600" dirty="0"/>
              <a:t>the API commands to get the </a:t>
            </a:r>
            <a:r>
              <a:rPr lang="en-US" sz="1600" dirty="0" smtClean="0"/>
              <a:t>property of an object and Command to delete the </a:t>
            </a:r>
            <a:r>
              <a:rPr lang="en-US" sz="1600" dirty="0"/>
              <a:t>object from the repository</a:t>
            </a:r>
            <a:r>
              <a:rPr lang="en-US" sz="1600" dirty="0" smtClean="0"/>
              <a:t>?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sz="1600" dirty="0"/>
              <a:t>What is the significance of identifiers “C” and </a:t>
            </a:r>
            <a:r>
              <a:rPr lang="en-US" altLang="en-US" sz="1600" dirty="0" smtClean="0"/>
              <a:t>“L” </a:t>
            </a:r>
            <a:r>
              <a:rPr lang="en-US" altLang="en-US" sz="1600" dirty="0"/>
              <a:t>in the API Commands?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58291" y="761999"/>
            <a:ext cx="3657600" cy="1524000"/>
          </a:xfrm>
          <a:prstGeom prst="rect">
            <a:avLst/>
          </a:prstGeom>
          <a:ln>
            <a:solidFill>
              <a:schemeClr val="accent1">
                <a:shade val="50000"/>
                <a:alpha val="70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Fetch,c</a:t>
            </a:r>
            <a:r>
              <a:rPr lang="en-US" dirty="0" smtClean="0">
                <a:latin typeface="Arial Black" panose="020B0A04020102020204" pitchFamily="34" charset="0"/>
              </a:rPr>
              <a:t>,&lt;</a:t>
            </a:r>
            <a:r>
              <a:rPr lang="en-US" dirty="0" err="1" smtClean="0">
                <a:latin typeface="Arial Black" panose="020B0A04020102020204" pitchFamily="34" charset="0"/>
              </a:rPr>
              <a:t>r_object_id</a:t>
            </a:r>
            <a:r>
              <a:rPr lang="en-US" dirty="0" smtClean="0">
                <a:latin typeface="Arial Black" panose="020B0A04020102020204" pitchFamily="34" charset="0"/>
              </a:rPr>
              <a:t>&gt;</a:t>
            </a:r>
          </a:p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Set,c,l,object_name</a:t>
            </a:r>
            <a:endParaRPr lang="en-US" dirty="0" smtClean="0">
              <a:latin typeface="Arial Black" panose="020B0A04020102020204" pitchFamily="34" charset="0"/>
            </a:endParaRPr>
          </a:p>
          <a:p>
            <a:pPr algn="ctr"/>
            <a:r>
              <a:rPr lang="en-US" dirty="0" smtClean="0">
                <a:latin typeface="Arial Black" panose="020B0A04020102020204" pitchFamily="34" charset="0"/>
              </a:rPr>
              <a:t>&lt;name to be set&gt;</a:t>
            </a:r>
          </a:p>
        </p:txBody>
      </p:sp>
      <p:sp>
        <p:nvSpPr>
          <p:cNvPr id="7" name="TextBox 6"/>
          <p:cNvSpPr txBox="1"/>
          <p:nvPr/>
        </p:nvSpPr>
        <p:spPr>
          <a:xfrm rot="10800000">
            <a:off x="6324600" y="5493603"/>
            <a:ext cx="228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</a:rPr>
              <a:t>Answers</a:t>
            </a:r>
          </a:p>
          <a:p>
            <a:pPr marL="342900" indent="-342900">
              <a:buAutoNum type="arabicPeriod"/>
            </a:pPr>
            <a:r>
              <a:rPr lang="en-US" sz="1600" dirty="0" smtClean="0">
                <a:solidFill>
                  <a:schemeClr val="accent6"/>
                </a:solidFill>
              </a:rPr>
              <a:t>B</a:t>
            </a:r>
          </a:p>
          <a:p>
            <a:pPr marL="342900" indent="-342900">
              <a:buAutoNum type="arabicPeriod"/>
            </a:pPr>
            <a:r>
              <a:rPr lang="en-US" sz="1600" dirty="0" smtClean="0">
                <a:solidFill>
                  <a:schemeClr val="accent6"/>
                </a:solidFill>
              </a:rPr>
              <a:t>Dump &amp; Destroy</a:t>
            </a:r>
            <a:endParaRPr lang="en-US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6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 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</a:t>
            </a:r>
            <a:r>
              <a:rPr lang="en-US" dirty="0" smtClean="0"/>
              <a:t>elete the running workflow using API Command.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Set object name for a document.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API command to unlock the document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API command to get all the properties of an object.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Execute DQL query using API command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48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178640"/>
              </p:ext>
            </p:extLst>
          </p:nvPr>
        </p:nvGraphicFramePr>
        <p:xfrm>
          <a:off x="6409267" y="3956188"/>
          <a:ext cx="1811866" cy="152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Document" showAsIcon="1" r:id="rId3" imgW="914400" imgH="771480" progId="Word.Document.12">
                  <p:embed/>
                </p:oleObj>
              </mc:Choice>
              <mc:Fallback>
                <p:oleObj name="Document" showAsIcon="1" r:id="rId3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9267" y="3956188"/>
                        <a:ext cx="1811866" cy="152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32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9" y="1981200"/>
            <a:ext cx="8229600" cy="2514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These </a:t>
            </a:r>
            <a:r>
              <a:rPr lang="en-US" sz="1800" dirty="0"/>
              <a:t>utilities </a:t>
            </a:r>
            <a:r>
              <a:rPr lang="en-US" sz="1800" dirty="0" smtClean="0"/>
              <a:t>are </a:t>
            </a:r>
            <a:r>
              <a:rPr lang="en-US" sz="1800" dirty="0"/>
              <a:t>used to perform small tasks in the repository and also to execute the scripts to perform action on repository objects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Types of Utilities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IDQL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IAPI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3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" y="0"/>
            <a:ext cx="7162800" cy="712246"/>
          </a:xfrm>
        </p:spPr>
        <p:txBody>
          <a:bodyPr/>
          <a:lstStyle/>
          <a:p>
            <a:r>
              <a:rPr lang="en-US" dirty="0" err="1" smtClean="0"/>
              <a:t>iDQL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3733800" cy="51355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iDQL</a:t>
            </a:r>
            <a:r>
              <a:rPr lang="en-US" sz="1600" dirty="0"/>
              <a:t> – Interactive Document Query </a:t>
            </a:r>
            <a:r>
              <a:rPr lang="en-US" sz="1600" dirty="0" smtClean="0"/>
              <a:t>Interface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The </a:t>
            </a:r>
            <a:r>
              <a:rPr lang="en-US" sz="1600" dirty="0"/>
              <a:t>IDQL utility is an interactive tool that lets you enter ad hoc DQL queries against a repository</a:t>
            </a:r>
            <a:r>
              <a:rPr lang="en-US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IDQL is included and installed with Content Server. It is found in %DM_HOME%\bin ($DM_HOME/bin</a:t>
            </a:r>
            <a:r>
              <a:rPr lang="en-US" sz="1600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Copy iDQL.exe along with DMCL to your local machine and start working on </a:t>
            </a:r>
            <a:r>
              <a:rPr lang="en-US" sz="1600" dirty="0" smtClean="0"/>
              <a:t>DQL’s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50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960119"/>
            <a:ext cx="4648200" cy="51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5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iDQL</a:t>
            </a:r>
            <a:r>
              <a:rPr lang="en-US" dirty="0" smtClean="0"/>
              <a:t> Commands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079574"/>
              </p:ext>
            </p:extLst>
          </p:nvPr>
        </p:nvGraphicFramePr>
        <p:xfrm>
          <a:off x="457200" y="990600"/>
          <a:ext cx="822960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44081617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815800864"/>
                    </a:ext>
                  </a:extLst>
                </a:gridCol>
              </a:tblGrid>
              <a:tr h="3969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219257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Executes a DQL statement and clears the query buffer.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4093634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Clears the query buffer.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774113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quit</a:t>
                      </a:r>
                      <a:endParaRPr lang="en-US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Exits the utility</a:t>
                      </a:r>
                      <a:r>
                        <a:rPr lang="en-US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9207672"/>
                  </a:ext>
                </a:extLst>
              </a:tr>
              <a:tr h="14784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Provides a description of a specified object type or </a:t>
                      </a:r>
                      <a:r>
                        <a:rPr lang="en-US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registered table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US" sz="1600" u="none" strike="noStrike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syntax formats for this command are:</a:t>
                      </a:r>
                    </a:p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describe [type]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type_name</a:t>
                      </a:r>
                      <a:endParaRPr lang="en-US" sz="160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describe table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table_name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9519916"/>
                  </a:ext>
                </a:extLst>
              </a:tr>
              <a:tr h="396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scriptfile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Executes the specified script.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4778473"/>
                  </a:ext>
                </a:extLst>
              </a:tr>
              <a:tr h="11848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shutdown</a:t>
                      </a:r>
                    </a:p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Issues a Shutdown method that shuts down the </a:t>
                      </a:r>
                      <a:r>
                        <a:rPr lang="en-US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Server 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gracefully. You must be a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superuser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US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administrator 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use this command. When shutdown </a:t>
                      </a:r>
                      <a:r>
                        <a:rPr lang="en-US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complete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the utility exits.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5996696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iAPI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505097" y="1503317"/>
            <a:ext cx="3505200" cy="3886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 err="1"/>
              <a:t>iAPI</a:t>
            </a:r>
            <a:r>
              <a:rPr lang="en-US" sz="1600" dirty="0"/>
              <a:t> – Interactive API </a:t>
            </a:r>
            <a:r>
              <a:rPr lang="en-US" sz="1600" dirty="0" smtClean="0"/>
              <a:t>Interface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smtClean="0"/>
              <a:t>The </a:t>
            </a:r>
            <a:r>
              <a:rPr lang="en-US" sz="1600" dirty="0"/>
              <a:t>IAPI utility is a tool that you can use to execute </a:t>
            </a:r>
            <a:r>
              <a:rPr lang="en-US" sz="1600" dirty="0" smtClean="0"/>
              <a:t>API Commands.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This utility is included and installed with Content Server. It is found in %DM_HOME%\bin ($DM_HOME/bin</a:t>
            </a:r>
            <a:r>
              <a:rPr lang="en-US" sz="1600" dirty="0" smtClean="0"/>
              <a:t>).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Depending on your </a:t>
            </a:r>
            <a:r>
              <a:rPr lang="en-US" sz="1600" dirty="0" smtClean="0"/>
              <a:t>operating </a:t>
            </a:r>
            <a:r>
              <a:rPr lang="en-US" sz="1600" dirty="0"/>
              <a:t>system, there may be multiple IAPI utilities</a:t>
            </a:r>
            <a:r>
              <a:rPr lang="en-US" sz="1600" dirty="0" smtClean="0"/>
              <a:t>.</a:t>
            </a: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t>52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32960" y="1066800"/>
            <a:ext cx="4191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1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iAPI</a:t>
            </a:r>
            <a:r>
              <a:rPr lang="en-US" dirty="0" smtClean="0"/>
              <a:t> Commands</a:t>
            </a:r>
            <a:endParaRPr lang="en-US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405354"/>
              </p:ext>
            </p:extLst>
          </p:nvPr>
        </p:nvGraphicFramePr>
        <p:xfrm>
          <a:off x="457200" y="1905000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87000357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990790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67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logfile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Outputs to the specified file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086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scriptfile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Reads input from the specified file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3262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%scriptfile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Outputs a script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6466172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1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04949" y="1408611"/>
            <a:ext cx="8229600" cy="4458790"/>
          </a:xfrm>
        </p:spPr>
        <p:txBody>
          <a:bodyPr/>
          <a:lstStyle/>
          <a:p>
            <a:pPr marL="285750" indent="-285750"/>
            <a:r>
              <a:rPr lang="en-US" sz="1800" dirty="0"/>
              <a:t>The languages provided by Documentum DQL and API offers many ways to administer the Documentum Content Server, maintain and program</a:t>
            </a:r>
            <a:r>
              <a:rPr lang="en-US" sz="1800" dirty="0" smtClean="0"/>
              <a:t>.</a:t>
            </a:r>
          </a:p>
          <a:p>
            <a:pPr marL="285750" indent="-285750"/>
            <a:endParaRPr lang="en-US" sz="1800" dirty="0"/>
          </a:p>
          <a:p>
            <a:pPr marL="285750" indent="-285750"/>
            <a:r>
              <a:rPr lang="en-US" sz="1800" dirty="0" smtClean="0"/>
              <a:t>External tools </a:t>
            </a:r>
            <a:r>
              <a:rPr lang="en-US" sz="1800" dirty="0"/>
              <a:t>like </a:t>
            </a:r>
            <a:r>
              <a:rPr lang="en-US" sz="1800" dirty="0" err="1"/>
              <a:t>dqMan</a:t>
            </a:r>
            <a:r>
              <a:rPr lang="en-US" sz="1800" dirty="0"/>
              <a:t> and Samson provides user interface to execute the queries/commands and see the results</a:t>
            </a:r>
            <a:r>
              <a:rPr lang="en-US" sz="1800" dirty="0" smtClean="0"/>
              <a:t>.</a:t>
            </a:r>
          </a:p>
          <a:p>
            <a:pPr marL="285750" indent="-285750"/>
            <a:endParaRPr lang="en-US" sz="1800" dirty="0"/>
          </a:p>
          <a:p>
            <a:pPr marL="285750" indent="-285750"/>
            <a:r>
              <a:rPr lang="en-US" sz="1800" dirty="0" err="1"/>
              <a:t>dqMan</a:t>
            </a:r>
            <a:r>
              <a:rPr lang="en-US" sz="1800" dirty="0"/>
              <a:t> is a program that allows you to use the DQL and API languages via an integrated interface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285750" indent="-285750"/>
            <a:r>
              <a:rPr lang="en-US" sz="1800" dirty="0"/>
              <a:t>It allows you to browse files in the API Command Area, it has support for DQL Command Message Area or you can use a vast variety of predefined functions to process the query results, like an inline editor, copy, export to CSV or Excel.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7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DQL Editor in </a:t>
            </a:r>
            <a:r>
              <a:rPr lang="en-US" dirty="0" err="1" smtClean="0"/>
              <a:t>dqMan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994" y="1195597"/>
            <a:ext cx="8229600" cy="441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9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Editor in </a:t>
            </a:r>
            <a:r>
              <a:rPr lang="en-US" dirty="0" err="1" smtClean="0"/>
              <a:t>dqMan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251728"/>
            <a:ext cx="8229600" cy="4402442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0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www.howmuchinformation.org/collateral/TechnicalDocument/docu57858.pdf</a:t>
            </a:r>
            <a:endParaRPr lang="en-US" dirty="0" smtClean="0"/>
          </a:p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www.securant.com/collateral/TechnicalDocument/docu57864.pdf</a:t>
            </a:r>
            <a:endParaRPr lang="en-US" dirty="0" smtClean="0"/>
          </a:p>
          <a:p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www.jouvinio.net/wiki/images/4/48/Documentum_Content_Server_53_SP1_api_ref.pdf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| © Cognizant 2015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AFF2-BF11-42B3-8CB9-F8B879C82B07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6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4114800"/>
            <a:ext cx="4865914" cy="190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31775" lvl="1"/>
            <a:r>
              <a:rPr lang="en-US" sz="2400" dirty="0">
                <a:solidFill>
                  <a:schemeClr val="bg1"/>
                </a:solidFill>
                <a:latin typeface="Arial Rounded MT Bold" pitchFamily="34" charset="0"/>
              </a:rPr>
              <a:t>You have successfully </a:t>
            </a:r>
            <a:r>
              <a:rPr lang="en-US" sz="2400" dirty="0" smtClean="0">
                <a:solidFill>
                  <a:schemeClr val="bg1"/>
                </a:solidFill>
                <a:latin typeface="Arial Rounded MT Bold" pitchFamily="34" charset="0"/>
              </a:rPr>
              <a:t>completed</a:t>
            </a:r>
          </a:p>
          <a:p>
            <a:pPr marL="231775" lvl="1"/>
            <a:r>
              <a:rPr lang="en-US" sz="2400" dirty="0" smtClean="0">
                <a:solidFill>
                  <a:schemeClr val="bg1"/>
                </a:solidFill>
                <a:latin typeface="Arial Rounded MT Bold" pitchFamily="34" charset="0"/>
              </a:rPr>
              <a:t> </a:t>
            </a:r>
            <a:endParaRPr lang="en-US" sz="2400" dirty="0">
              <a:solidFill>
                <a:schemeClr val="bg1"/>
              </a:solidFill>
              <a:latin typeface="Arial Rounded MT Bold" pitchFamily="34" charset="0"/>
            </a:endParaRPr>
          </a:p>
          <a:p>
            <a:pPr marL="231775" lvl="1"/>
            <a:r>
              <a:rPr lang="en-US" sz="2400" dirty="0" smtClean="0">
                <a:solidFill>
                  <a:schemeClr val="bg1"/>
                </a:solidFill>
                <a:latin typeface="Arial Rounded MT Bold" pitchFamily="34" charset="0"/>
              </a:rPr>
              <a:t>DQL and API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8906D291A1594FB484B92D6C1AD3C4" ma:contentTypeVersion="7" ma:contentTypeDescription="Create a new document." ma:contentTypeScope="" ma:versionID="08a6e3752191a23bfe89027ef1c2f4ab">
  <xsd:schema xmlns:xsd="http://www.w3.org/2001/XMLSchema" xmlns:xs="http://www.w3.org/2001/XMLSchema" xmlns:p="http://schemas.microsoft.com/office/2006/metadata/properties" xmlns:ns2="aeff48cc-5d98-4eca-91f4-e535d34bde01" xmlns:ns3="a1eda141-7564-416b-b647-3a51fe7e06b7" targetNamespace="http://schemas.microsoft.com/office/2006/metadata/properties" ma:root="true" ma:fieldsID="99572bfcbb6d20b8b78e164029459b2e" ns2:_="" ns3:_="">
    <xsd:import namespace="aeff48cc-5d98-4eca-91f4-e535d34bde01"/>
    <xsd:import namespace="a1eda141-7564-416b-b647-3a51fe7e06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ff48cc-5d98-4eca-91f4-e535d34bd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da141-7564-416b-b647-3a51fe7e06b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C481EB-8F30-4DBE-97E4-C47F16554C60}">
  <ds:schemaRefs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587111D-7DFB-442C-9FE3-44380E208E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4968E7-2F79-4907-8C37-61DB2A267A7B}"/>
</file>

<file path=docProps/app.xml><?xml version="1.0" encoding="utf-8"?>
<Properties xmlns="http://schemas.openxmlformats.org/officeDocument/2006/extended-properties" xmlns:vt="http://schemas.openxmlformats.org/officeDocument/2006/docPropsVTypes">
  <Template>Theme_3</Template>
  <TotalTime>28148</TotalTime>
  <Words>3318</Words>
  <Application>Microsoft Office PowerPoint</Application>
  <PresentationFormat>On-screen Show (4:3)</PresentationFormat>
  <Paragraphs>698</Paragraphs>
  <Slides>58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Arial Unicode MS</vt:lpstr>
      <vt:lpstr>Arial</vt:lpstr>
      <vt:lpstr>Arial Black</vt:lpstr>
      <vt:lpstr>Arial Narrow</vt:lpstr>
      <vt:lpstr>Arial Rounded MT Bold</vt:lpstr>
      <vt:lpstr>Calibri</vt:lpstr>
      <vt:lpstr>Courier New</vt:lpstr>
      <vt:lpstr>Ebrima</vt:lpstr>
      <vt:lpstr>Lato</vt:lpstr>
      <vt:lpstr>Times New Roman</vt:lpstr>
      <vt:lpstr>Wingdings</vt:lpstr>
      <vt:lpstr>Custom Design</vt:lpstr>
      <vt:lpstr>Document</vt:lpstr>
      <vt:lpstr>PowerPoint Presentation</vt:lpstr>
      <vt:lpstr>PowerPoint Presentation</vt:lpstr>
      <vt:lpstr>PowerPoint Presentation</vt:lpstr>
      <vt:lpstr>PowerPoint Presentation</vt:lpstr>
      <vt:lpstr>Introduction to DQL</vt:lpstr>
      <vt:lpstr>Repository Infrastructure</vt:lpstr>
      <vt:lpstr>DQL Statements</vt:lpstr>
      <vt:lpstr>DQL Editor in DA</vt:lpstr>
      <vt:lpstr>DQL Editor</vt:lpstr>
      <vt:lpstr>SELECT Statement</vt:lpstr>
      <vt:lpstr>Syntax of SELECT Statement :</vt:lpstr>
      <vt:lpstr>PowerPoint Presentation</vt:lpstr>
      <vt:lpstr>UPDATE Statement</vt:lpstr>
      <vt:lpstr>UPDATE Statement</vt:lpstr>
      <vt:lpstr>INSERT Statement</vt:lpstr>
      <vt:lpstr>DELETE Statement</vt:lpstr>
      <vt:lpstr>DELETE Statement</vt:lpstr>
      <vt:lpstr>DQL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Clause in DQL</vt:lpstr>
      <vt:lpstr>WHERE Clause samples</vt:lpstr>
      <vt:lpstr>PowerPoint Presentation</vt:lpstr>
      <vt:lpstr>WHERE Clause for repeating properties</vt:lpstr>
      <vt:lpstr>DQL related to Registered Table</vt:lpstr>
      <vt:lpstr>PowerPoint Presentation</vt:lpstr>
      <vt:lpstr>PowerPoint Presentation</vt:lpstr>
      <vt:lpstr>Test your understanding</vt:lpstr>
      <vt:lpstr>Test your understanding</vt:lpstr>
      <vt:lpstr>Hands On</vt:lpstr>
      <vt:lpstr>PowerPoint Presentation</vt:lpstr>
      <vt:lpstr>Introduction to API</vt:lpstr>
      <vt:lpstr>API Tester in DA</vt:lpstr>
      <vt:lpstr>API Tester</vt:lpstr>
      <vt:lpstr>API Methods</vt:lpstr>
      <vt:lpstr>Methods for communicating with server</vt:lpstr>
      <vt:lpstr>Methods for handling objects</vt:lpstr>
      <vt:lpstr>PowerPoint Presentation</vt:lpstr>
      <vt:lpstr>Methods for searching the repository</vt:lpstr>
      <vt:lpstr>Methods for handling content objects</vt:lpstr>
      <vt:lpstr>Methods for handling workows</vt:lpstr>
      <vt:lpstr>Test your understanding</vt:lpstr>
      <vt:lpstr>Hands On</vt:lpstr>
      <vt:lpstr>Utilities</vt:lpstr>
      <vt:lpstr>iDQL</vt:lpstr>
      <vt:lpstr>iDQL Commands</vt:lpstr>
      <vt:lpstr>iAPI</vt:lpstr>
      <vt:lpstr>iAPI Commands</vt:lpstr>
      <vt:lpstr>Tools</vt:lpstr>
      <vt:lpstr>DQL Editor in dqMan</vt:lpstr>
      <vt:lpstr>API Editor in dqMan</vt:lpstr>
      <vt:lpstr>References</vt:lpstr>
      <vt:lpstr>PowerPoint Presentation</vt:lpstr>
    </vt:vector>
  </TitlesOfParts>
  <Company>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Content_Development_Template_Learner</dc:title>
  <dc:creator>AssetDevelopmentTeam@cognizant.com</dc:creator>
  <cp:lastModifiedBy>Rajendran, Varun (Cognizant)</cp:lastModifiedBy>
  <cp:revision>744</cp:revision>
  <dcterms:created xsi:type="dcterms:W3CDTF">2011-06-15T11:24:59Z</dcterms:created>
  <dcterms:modified xsi:type="dcterms:W3CDTF">2018-04-05T05:48:29Z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0x010100AD8906D291A1594FB484B92D6C1AD3C4</vt:lpwstr>
  </property>
  <property fmtid="{D5CDD505-2E9C-101B-9397-08002B2CF9AE}" pid="3" name="_dlc_DocIdItemGuid">
    <vt:lpwstr>6889c3dc-e885-478b-af90-dc43bf895203</vt:lpwstr>
  </property>
</Properties>
</file>